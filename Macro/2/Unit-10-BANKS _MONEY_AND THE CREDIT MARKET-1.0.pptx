
<file path=[Content_Types].xml><?xml version="1.0" encoding="utf-8"?>
<Types xmlns="http://schemas.openxmlformats.org/package/2006/content-types">
  <Default Extension="docx" ContentType="application/vnd.openxmlformats-officedocument.wordprocessingml.documen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324" r:id="rId2"/>
    <p:sldId id="361" r:id="rId3"/>
    <p:sldId id="342" r:id="rId4"/>
    <p:sldId id="343" r:id="rId5"/>
    <p:sldId id="362" r:id="rId6"/>
    <p:sldId id="301" r:id="rId7"/>
    <p:sldId id="302" r:id="rId8"/>
    <p:sldId id="366" r:id="rId9"/>
    <p:sldId id="367" r:id="rId10"/>
    <p:sldId id="351" r:id="rId11"/>
    <p:sldId id="352" r:id="rId12"/>
    <p:sldId id="378" r:id="rId13"/>
    <p:sldId id="339" r:id="rId14"/>
    <p:sldId id="381" r:id="rId15"/>
    <p:sldId id="382" r:id="rId16"/>
    <p:sldId id="327" r:id="rId17"/>
    <p:sldId id="365" r:id="rId18"/>
    <p:sldId id="300" r:id="rId19"/>
    <p:sldId id="370" r:id="rId20"/>
    <p:sldId id="369" r:id="rId21"/>
    <p:sldId id="371" r:id="rId22"/>
    <p:sldId id="372" r:id="rId23"/>
    <p:sldId id="374" r:id="rId24"/>
    <p:sldId id="340" r:id="rId25"/>
    <p:sldId id="329" r:id="rId26"/>
    <p:sldId id="376" r:id="rId27"/>
    <p:sldId id="377" r:id="rId28"/>
    <p:sldId id="285" r:id="rId29"/>
    <p:sldId id="284" r:id="rId30"/>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9821" autoAdjust="0"/>
  </p:normalViewPr>
  <p:slideViewPr>
    <p:cSldViewPr snapToGrid="0">
      <p:cViewPr varScale="1">
        <p:scale>
          <a:sx n="67" d="100"/>
          <a:sy n="67" d="100"/>
        </p:scale>
        <p:origin x="432" y="44"/>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3822"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phia Kuehnlenz" userId="20143330-4abf-4396-a178-32b3a305bda4" providerId="ADAL" clId="{CA9A91DD-745A-478E-B60B-84D61159BC6B}"/>
    <pc:docChg chg="custSel delSld modSld">
      <pc:chgData name="Sophia Kuehnlenz" userId="20143330-4abf-4396-a178-32b3a305bda4" providerId="ADAL" clId="{CA9A91DD-745A-478E-B60B-84D61159BC6B}" dt="2022-09-09T14:28:06.746" v="353" actId="1076"/>
      <pc:docMkLst>
        <pc:docMk/>
      </pc:docMkLst>
      <pc:sldChg chg="modSp mod">
        <pc:chgData name="Sophia Kuehnlenz" userId="20143330-4abf-4396-a178-32b3a305bda4" providerId="ADAL" clId="{CA9A91DD-745A-478E-B60B-84D61159BC6B}" dt="2022-09-09T14:28:06.746" v="353" actId="1076"/>
        <pc:sldMkLst>
          <pc:docMk/>
          <pc:sldMk cId="4017769800" sldId="284"/>
        </pc:sldMkLst>
        <pc:spChg chg="mod">
          <ac:chgData name="Sophia Kuehnlenz" userId="20143330-4abf-4396-a178-32b3a305bda4" providerId="ADAL" clId="{CA9A91DD-745A-478E-B60B-84D61159BC6B}" dt="2022-09-09T14:28:06.746" v="353" actId="1076"/>
          <ac:spMkLst>
            <pc:docMk/>
            <pc:sldMk cId="4017769800" sldId="284"/>
            <ac:spMk id="2" creationId="{00000000-0000-0000-0000-000000000000}"/>
          </ac:spMkLst>
        </pc:spChg>
      </pc:sldChg>
      <pc:sldChg chg="modSp mod">
        <pc:chgData name="Sophia Kuehnlenz" userId="20143330-4abf-4396-a178-32b3a305bda4" providerId="ADAL" clId="{CA9A91DD-745A-478E-B60B-84D61159BC6B}" dt="2022-08-25T14:01:38.414" v="213" actId="1076"/>
        <pc:sldMkLst>
          <pc:docMk/>
          <pc:sldMk cId="4162583085" sldId="285"/>
        </pc:sldMkLst>
        <pc:spChg chg="mod">
          <ac:chgData name="Sophia Kuehnlenz" userId="20143330-4abf-4396-a178-32b3a305bda4" providerId="ADAL" clId="{CA9A91DD-745A-478E-B60B-84D61159BC6B}" dt="2022-08-25T14:01:38.414" v="213" actId="1076"/>
          <ac:spMkLst>
            <pc:docMk/>
            <pc:sldMk cId="4162583085" sldId="285"/>
            <ac:spMk id="2" creationId="{00000000-0000-0000-0000-000000000000}"/>
          </ac:spMkLst>
        </pc:spChg>
      </pc:sldChg>
      <pc:sldChg chg="modSp mod">
        <pc:chgData name="Sophia Kuehnlenz" userId="20143330-4abf-4396-a178-32b3a305bda4" providerId="ADAL" clId="{CA9A91DD-745A-478E-B60B-84D61159BC6B}" dt="2022-08-26T12:47:47.405" v="222" actId="20577"/>
        <pc:sldMkLst>
          <pc:docMk/>
          <pc:sldMk cId="4228979664" sldId="339"/>
        </pc:sldMkLst>
        <pc:spChg chg="mod">
          <ac:chgData name="Sophia Kuehnlenz" userId="20143330-4abf-4396-a178-32b3a305bda4" providerId="ADAL" clId="{CA9A91DD-745A-478E-B60B-84D61159BC6B}" dt="2022-08-26T12:47:47.405" v="222" actId="20577"/>
          <ac:spMkLst>
            <pc:docMk/>
            <pc:sldMk cId="4228979664" sldId="339"/>
            <ac:spMk id="4" creationId="{00000000-0000-0000-0000-000000000000}"/>
          </ac:spMkLst>
        </pc:spChg>
      </pc:sldChg>
      <pc:sldChg chg="modSp del mod">
        <pc:chgData name="Sophia Kuehnlenz" userId="20143330-4abf-4396-a178-32b3a305bda4" providerId="ADAL" clId="{CA9A91DD-745A-478E-B60B-84D61159BC6B}" dt="2022-08-25T14:42:35.469" v="214" actId="2696"/>
        <pc:sldMkLst>
          <pc:docMk/>
          <pc:sldMk cId="1265826945" sldId="353"/>
        </pc:sldMkLst>
        <pc:spChg chg="mod">
          <ac:chgData name="Sophia Kuehnlenz" userId="20143330-4abf-4396-a178-32b3a305bda4" providerId="ADAL" clId="{CA9A91DD-745A-478E-B60B-84D61159BC6B}" dt="2022-08-25T13:57:35.966" v="0" actId="20577"/>
          <ac:spMkLst>
            <pc:docMk/>
            <pc:sldMk cId="1265826945" sldId="353"/>
            <ac:spMk id="3" creationId="{00000000-0000-0000-0000-000000000000}"/>
          </ac:spMkLst>
        </pc:spChg>
      </pc:sldChg>
      <pc:sldChg chg="modSp del mod">
        <pc:chgData name="Sophia Kuehnlenz" userId="20143330-4abf-4396-a178-32b3a305bda4" providerId="ADAL" clId="{CA9A91DD-745A-478E-B60B-84D61159BC6B}" dt="2022-09-07T16:09:23.067" v="294" actId="47"/>
        <pc:sldMkLst>
          <pc:docMk/>
          <pc:sldMk cId="2624775232" sldId="373"/>
        </pc:sldMkLst>
        <pc:spChg chg="mod">
          <ac:chgData name="Sophia Kuehnlenz" userId="20143330-4abf-4396-a178-32b3a305bda4" providerId="ADAL" clId="{CA9A91DD-745A-478E-B60B-84D61159BC6B}" dt="2022-08-26T13:05:24.909" v="281" actId="20577"/>
          <ac:spMkLst>
            <pc:docMk/>
            <pc:sldMk cId="2624775232" sldId="373"/>
            <ac:spMk id="6" creationId="{00000000-0000-0000-0000-000000000000}"/>
          </ac:spMkLst>
        </pc:spChg>
      </pc:sldChg>
      <pc:sldChg chg="modSp mod">
        <pc:chgData name="Sophia Kuehnlenz" userId="20143330-4abf-4396-a178-32b3a305bda4" providerId="ADAL" clId="{CA9A91DD-745A-478E-B60B-84D61159BC6B}" dt="2022-08-26T13:06:10.364" v="293" actId="20577"/>
        <pc:sldMkLst>
          <pc:docMk/>
          <pc:sldMk cId="2976417271" sldId="376"/>
        </pc:sldMkLst>
        <pc:spChg chg="mod">
          <ac:chgData name="Sophia Kuehnlenz" userId="20143330-4abf-4396-a178-32b3a305bda4" providerId="ADAL" clId="{CA9A91DD-745A-478E-B60B-84D61159BC6B}" dt="2022-08-26T13:06:10.364" v="293" actId="20577"/>
          <ac:spMkLst>
            <pc:docMk/>
            <pc:sldMk cId="2976417271" sldId="376"/>
            <ac:spMk id="4" creationId="{00000000-0000-0000-0000-000000000000}"/>
          </ac:spMkLst>
        </pc:spChg>
      </pc:sldChg>
      <pc:sldChg chg="modSp mod">
        <pc:chgData name="Sophia Kuehnlenz" userId="20143330-4abf-4396-a178-32b3a305bda4" providerId="ADAL" clId="{CA9A91DD-745A-478E-B60B-84D61159BC6B}" dt="2022-08-26T12:48:39.859" v="248" actId="20577"/>
        <pc:sldMkLst>
          <pc:docMk/>
          <pc:sldMk cId="4105638892" sldId="381"/>
        </pc:sldMkLst>
        <pc:spChg chg="mod">
          <ac:chgData name="Sophia Kuehnlenz" userId="20143330-4abf-4396-a178-32b3a305bda4" providerId="ADAL" clId="{CA9A91DD-745A-478E-B60B-84D61159BC6B}" dt="2022-08-26T12:48:33.675" v="246" actId="1076"/>
          <ac:spMkLst>
            <pc:docMk/>
            <pc:sldMk cId="4105638892" sldId="381"/>
            <ac:spMk id="2" creationId="{0154234C-B778-42B9-9565-047B64A79545}"/>
          </ac:spMkLst>
        </pc:spChg>
        <pc:spChg chg="mod">
          <ac:chgData name="Sophia Kuehnlenz" userId="20143330-4abf-4396-a178-32b3a305bda4" providerId="ADAL" clId="{CA9A91DD-745A-478E-B60B-84D61159BC6B}" dt="2022-08-26T12:48:39.859" v="248" actId="20577"/>
          <ac:spMkLst>
            <pc:docMk/>
            <pc:sldMk cId="4105638892" sldId="381"/>
            <ac:spMk id="3" creationId="{33C1D9BC-23AD-4641-8530-795950A1B578}"/>
          </ac:spMkLst>
        </pc:spChg>
      </pc:sldChg>
      <pc:sldChg chg="modSp mod">
        <pc:chgData name="Sophia Kuehnlenz" userId="20143330-4abf-4396-a178-32b3a305bda4" providerId="ADAL" clId="{CA9A91DD-745A-478E-B60B-84D61159BC6B}" dt="2022-08-26T12:49:29.008" v="250" actId="20577"/>
        <pc:sldMkLst>
          <pc:docMk/>
          <pc:sldMk cId="2836899709" sldId="382"/>
        </pc:sldMkLst>
        <pc:spChg chg="mod">
          <ac:chgData name="Sophia Kuehnlenz" userId="20143330-4abf-4396-a178-32b3a305bda4" providerId="ADAL" clId="{CA9A91DD-745A-478E-B60B-84D61159BC6B}" dt="2022-08-26T12:49:29.008" v="250" actId="20577"/>
          <ac:spMkLst>
            <pc:docMk/>
            <pc:sldMk cId="2836899709" sldId="382"/>
            <ac:spMk id="3" creationId="{195731F6-D817-4E40-B4F1-A683C6822934}"/>
          </ac:spMkLst>
        </pc:spChg>
      </pc:sldChg>
    </pc:docChg>
  </pc:docChgLst>
  <pc:docChgLst>
    <pc:chgData name="Sophia Kuehnlenz" userId="20143330-4abf-4396-a178-32b3a305bda4" providerId="ADAL" clId="{F41124E9-FC27-45A2-864F-97CC19893A69}"/>
    <pc:docChg chg="custSel modSld">
      <pc:chgData name="Sophia Kuehnlenz" userId="20143330-4abf-4396-a178-32b3a305bda4" providerId="ADAL" clId="{F41124E9-FC27-45A2-864F-97CC19893A69}" dt="2022-07-21T15:39:07.259" v="217" actId="14100"/>
      <pc:docMkLst>
        <pc:docMk/>
      </pc:docMkLst>
      <pc:sldChg chg="modSp mod">
        <pc:chgData name="Sophia Kuehnlenz" userId="20143330-4abf-4396-a178-32b3a305bda4" providerId="ADAL" clId="{F41124E9-FC27-45A2-864F-97CC19893A69}" dt="2022-07-21T15:34:21.675" v="1" actId="114"/>
        <pc:sldMkLst>
          <pc:docMk/>
          <pc:sldMk cId="2406235281" sldId="365"/>
        </pc:sldMkLst>
        <pc:spChg chg="mod">
          <ac:chgData name="Sophia Kuehnlenz" userId="20143330-4abf-4396-a178-32b3a305bda4" providerId="ADAL" clId="{F41124E9-FC27-45A2-864F-97CC19893A69}" dt="2022-07-21T15:34:21.675" v="1" actId="114"/>
          <ac:spMkLst>
            <pc:docMk/>
            <pc:sldMk cId="2406235281" sldId="365"/>
            <ac:spMk id="3" creationId="{D5096009-9C49-40A6-8CF7-48ED392F4F24}"/>
          </ac:spMkLst>
        </pc:spChg>
      </pc:sldChg>
      <pc:sldChg chg="modSp mod">
        <pc:chgData name="Sophia Kuehnlenz" userId="20143330-4abf-4396-a178-32b3a305bda4" providerId="ADAL" clId="{F41124E9-FC27-45A2-864F-97CC19893A69}" dt="2022-07-21T15:39:07.259" v="217" actId="14100"/>
        <pc:sldMkLst>
          <pc:docMk/>
          <pc:sldMk cId="4105638892" sldId="381"/>
        </pc:sldMkLst>
        <pc:spChg chg="mod">
          <ac:chgData name="Sophia Kuehnlenz" userId="20143330-4abf-4396-a178-32b3a305bda4" providerId="ADAL" clId="{F41124E9-FC27-45A2-864F-97CC19893A69}" dt="2022-07-21T15:39:07.259" v="217" actId="14100"/>
          <ac:spMkLst>
            <pc:docMk/>
            <pc:sldMk cId="4105638892" sldId="381"/>
            <ac:spMk id="3" creationId="{33C1D9BC-23AD-4641-8530-795950A1B578}"/>
          </ac:spMkLst>
        </pc:spChg>
      </pc:sldChg>
      <pc:sldChg chg="modSp mod">
        <pc:chgData name="Sophia Kuehnlenz" userId="20143330-4abf-4396-a178-32b3a305bda4" providerId="ADAL" clId="{F41124E9-FC27-45A2-864F-97CC19893A69}" dt="2022-07-21T15:36:57.157" v="49" actId="20577"/>
        <pc:sldMkLst>
          <pc:docMk/>
          <pc:sldMk cId="2836899709" sldId="382"/>
        </pc:sldMkLst>
        <pc:spChg chg="mod">
          <ac:chgData name="Sophia Kuehnlenz" userId="20143330-4abf-4396-a178-32b3a305bda4" providerId="ADAL" clId="{F41124E9-FC27-45A2-864F-97CC19893A69}" dt="2022-07-21T15:36:57.157" v="49" actId="20577"/>
          <ac:spMkLst>
            <pc:docMk/>
            <pc:sldMk cId="2836899709" sldId="382"/>
            <ac:spMk id="3" creationId="{195731F6-D817-4E40-B4F1-A683C68229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9B1A07-F18E-41BE-95F5-1B9BC58AF744}" type="datetimeFigureOut">
              <a:rPr lang="en-GB" smtClean="0"/>
              <a:pPr/>
              <a:t>09/09/2022</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638E3D-771E-4672-A11D-8D2C32B32D69}" type="slidenum">
              <a:rPr lang="en-GB" smtClean="0"/>
              <a:pPr/>
              <a:t>‹#›</a:t>
            </a:fld>
            <a:endParaRPr lang="en-GB"/>
          </a:p>
        </p:txBody>
      </p:sp>
    </p:spTree>
    <p:extLst>
      <p:ext uri="{BB962C8B-B14F-4D97-AF65-F5344CB8AC3E}">
        <p14:creationId xmlns:p14="http://schemas.microsoft.com/office/powerpoint/2010/main" val="22329738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1D4287-04A9-4C73-9D55-232C8596F91F}" type="datetimeFigureOut">
              <a:rPr lang="en-GB" smtClean="0"/>
              <a:pPr/>
              <a:t>09/09/2022</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AB5415-19B2-4E24-9144-8E58C47607AD}" type="slidenum">
              <a:rPr lang="en-GB" smtClean="0"/>
              <a:pPr/>
              <a:t>‹#›</a:t>
            </a:fld>
            <a:endParaRPr lang="en-GB"/>
          </a:p>
        </p:txBody>
      </p:sp>
    </p:spTree>
    <p:extLst>
      <p:ext uri="{BB962C8B-B14F-4D97-AF65-F5344CB8AC3E}">
        <p14:creationId xmlns:p14="http://schemas.microsoft.com/office/powerpoint/2010/main" val="76811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a:t>Source: https://www.bankofengland.co.uk/knowledgebank/how-is-money-created </a:t>
            </a:r>
          </a:p>
        </p:txBody>
      </p:sp>
      <p:sp>
        <p:nvSpPr>
          <p:cNvPr id="4" name="Foliennummernplatzhalter 3"/>
          <p:cNvSpPr>
            <a:spLocks noGrp="1"/>
          </p:cNvSpPr>
          <p:nvPr>
            <p:ph type="sldNum" sz="quarter" idx="5"/>
          </p:nvPr>
        </p:nvSpPr>
        <p:spPr/>
        <p:txBody>
          <a:bodyPr/>
          <a:lstStyle/>
          <a:p>
            <a:fld id="{8BAB5415-19B2-4E24-9144-8E58C47607AD}" type="slidenum">
              <a:rPr lang="en-GB" smtClean="0"/>
              <a:pPr/>
              <a:t>17</a:t>
            </a:fld>
            <a:endParaRPr lang="en-GB"/>
          </a:p>
        </p:txBody>
      </p:sp>
    </p:spTree>
    <p:extLst>
      <p:ext uri="{BB962C8B-B14F-4D97-AF65-F5344CB8AC3E}">
        <p14:creationId xmlns:p14="http://schemas.microsoft.com/office/powerpoint/2010/main" val="1003818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9" name="Group 8"/>
          <p:cNvGrpSpPr/>
          <p:nvPr userDrawn="1"/>
        </p:nvGrpSpPr>
        <p:grpSpPr>
          <a:xfrm>
            <a:off x="0" y="6588034"/>
            <a:ext cx="12200164" cy="278130"/>
            <a:chOff x="0" y="6588034"/>
            <a:chExt cx="12200164" cy="278130"/>
          </a:xfrm>
        </p:grpSpPr>
        <p:sp>
          <p:nvSpPr>
            <p:cNvPr id="7" name="Rectangle 6"/>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000516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7" name="Group 6"/>
          <p:cNvGrpSpPr/>
          <p:nvPr userDrawn="1"/>
        </p:nvGrpSpPr>
        <p:grpSpPr>
          <a:xfrm>
            <a:off x="0" y="6588034"/>
            <a:ext cx="12200164" cy="278130"/>
            <a:chOff x="0" y="6588034"/>
            <a:chExt cx="12200164" cy="278130"/>
          </a:xfrm>
        </p:grpSpPr>
        <p:sp>
          <p:nvSpPr>
            <p:cNvPr id="8" name="Rectangle 7"/>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548689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0" y="6588034"/>
            <a:ext cx="12200164" cy="278130"/>
            <a:chOff x="0" y="6588034"/>
            <a:chExt cx="12200164" cy="278130"/>
          </a:xfrm>
        </p:grpSpPr>
        <p:sp>
          <p:nvSpPr>
            <p:cNvPr id="8" name="Rectangle 7"/>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2075668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8" name="Group 7"/>
          <p:cNvGrpSpPr/>
          <p:nvPr userDrawn="1"/>
        </p:nvGrpSpPr>
        <p:grpSpPr>
          <a:xfrm>
            <a:off x="0" y="6588034"/>
            <a:ext cx="12200164" cy="278130"/>
            <a:chOff x="0" y="6588034"/>
            <a:chExt cx="12200164" cy="278130"/>
          </a:xfrm>
        </p:grpSpPr>
        <p:sp>
          <p:nvSpPr>
            <p:cNvPr id="9" name="Rectangle 8"/>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2410096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0" name="Group 9"/>
          <p:cNvGrpSpPr/>
          <p:nvPr userDrawn="1"/>
        </p:nvGrpSpPr>
        <p:grpSpPr>
          <a:xfrm>
            <a:off x="0" y="6588034"/>
            <a:ext cx="12200164" cy="278130"/>
            <a:chOff x="0" y="6588034"/>
            <a:chExt cx="12200164" cy="278130"/>
          </a:xfrm>
        </p:grpSpPr>
        <p:sp>
          <p:nvSpPr>
            <p:cNvPr id="11" name="Rectangle 10"/>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413686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grpSp>
        <p:nvGrpSpPr>
          <p:cNvPr id="6" name="Group 5"/>
          <p:cNvGrpSpPr/>
          <p:nvPr userDrawn="1"/>
        </p:nvGrpSpPr>
        <p:grpSpPr>
          <a:xfrm>
            <a:off x="0" y="6588034"/>
            <a:ext cx="12200164" cy="278130"/>
            <a:chOff x="0" y="6588034"/>
            <a:chExt cx="12200164" cy="278130"/>
          </a:xfrm>
        </p:grpSpPr>
        <p:sp>
          <p:nvSpPr>
            <p:cNvPr id="7" name="Rectangle 6"/>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92513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p:cNvGrpSpPr/>
          <p:nvPr userDrawn="1"/>
        </p:nvGrpSpPr>
        <p:grpSpPr>
          <a:xfrm>
            <a:off x="0" y="6588034"/>
            <a:ext cx="12200164" cy="278130"/>
            <a:chOff x="0" y="6588034"/>
            <a:chExt cx="12200164" cy="278130"/>
          </a:xfrm>
        </p:grpSpPr>
        <p:sp>
          <p:nvSpPr>
            <p:cNvPr id="6" name="Rectangle 5"/>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517892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oup 7"/>
          <p:cNvGrpSpPr/>
          <p:nvPr userDrawn="1"/>
        </p:nvGrpSpPr>
        <p:grpSpPr>
          <a:xfrm>
            <a:off x="0" y="6588034"/>
            <a:ext cx="12200164" cy="278130"/>
            <a:chOff x="0" y="6588034"/>
            <a:chExt cx="12200164" cy="278130"/>
          </a:xfrm>
        </p:grpSpPr>
        <p:sp>
          <p:nvSpPr>
            <p:cNvPr id="9" name="Rectangle 8"/>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2418608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oup 7"/>
          <p:cNvGrpSpPr/>
          <p:nvPr userDrawn="1"/>
        </p:nvGrpSpPr>
        <p:grpSpPr>
          <a:xfrm>
            <a:off x="0" y="6588034"/>
            <a:ext cx="12200164" cy="278130"/>
            <a:chOff x="0" y="6588034"/>
            <a:chExt cx="12200164" cy="278130"/>
          </a:xfrm>
        </p:grpSpPr>
        <p:sp>
          <p:nvSpPr>
            <p:cNvPr id="9" name="Rectangle 8"/>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88616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7" name="Group 6"/>
          <p:cNvGrpSpPr/>
          <p:nvPr userDrawn="1"/>
        </p:nvGrpSpPr>
        <p:grpSpPr>
          <a:xfrm>
            <a:off x="0" y="6588034"/>
            <a:ext cx="12200164" cy="278130"/>
            <a:chOff x="0" y="6588034"/>
            <a:chExt cx="12200164" cy="278130"/>
          </a:xfrm>
        </p:grpSpPr>
        <p:sp>
          <p:nvSpPr>
            <p:cNvPr id="8" name="Rectangle 7"/>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72615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7" name="Group 6"/>
          <p:cNvGrpSpPr/>
          <p:nvPr userDrawn="1"/>
        </p:nvGrpSpPr>
        <p:grpSpPr>
          <a:xfrm>
            <a:off x="0" y="6588034"/>
            <a:ext cx="12200164" cy="278130"/>
            <a:chOff x="0" y="6588034"/>
            <a:chExt cx="12200164" cy="278130"/>
          </a:xfrm>
        </p:grpSpPr>
        <p:sp>
          <p:nvSpPr>
            <p:cNvPr id="8" name="Rectangle 7"/>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289644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7" name="Group 6"/>
          <p:cNvGrpSpPr/>
          <p:nvPr userDrawn="1"/>
        </p:nvGrpSpPr>
        <p:grpSpPr>
          <a:xfrm>
            <a:off x="0" y="6588034"/>
            <a:ext cx="12200164" cy="278130"/>
            <a:chOff x="0" y="6588034"/>
            <a:chExt cx="12200164" cy="278130"/>
          </a:xfrm>
        </p:grpSpPr>
        <p:sp>
          <p:nvSpPr>
            <p:cNvPr id="8" name="Rectangle 7"/>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536768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0" i="0" u="none"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kuehnlenz@mmu.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pPr marL="0" indent="0"/>
            <a:br>
              <a:rPr lang="en-GB" b="1" dirty="0">
                <a:latin typeface="Arial" panose="020B0604020202020204" pitchFamily="34" charset="0"/>
                <a:cs typeface="Arial" panose="020B0604020202020204" pitchFamily="34" charset="0"/>
              </a:rPr>
            </a:br>
            <a:r>
              <a:rPr lang="en-GB" b="1" dirty="0">
                <a:latin typeface="+mn-lt"/>
                <a:cs typeface="Arial" panose="020B0604020202020204" pitchFamily="34" charset="0"/>
              </a:rPr>
              <a:t>Introduction to Macro Economic Principles </a:t>
            </a:r>
            <a:endParaRPr lang="en-GB" dirty="0">
              <a:latin typeface="+mn-lt"/>
            </a:endParaRPr>
          </a:p>
        </p:txBody>
      </p:sp>
      <p:sp>
        <p:nvSpPr>
          <p:cNvPr id="5" name="Subtitle 4"/>
          <p:cNvSpPr>
            <a:spLocks noGrp="1"/>
          </p:cNvSpPr>
          <p:nvPr>
            <p:ph type="subTitle" idx="1"/>
          </p:nvPr>
        </p:nvSpPr>
        <p:spPr/>
        <p:txBody>
          <a:bodyPr/>
          <a:lstStyle/>
          <a:p>
            <a:r>
              <a:rPr lang="en-GB" dirty="0"/>
              <a:t>Dr Sophia Kuehnlenz</a:t>
            </a:r>
          </a:p>
          <a:p>
            <a:r>
              <a:rPr lang="en-GB" dirty="0">
                <a:hlinkClick r:id="rId2"/>
              </a:rPr>
              <a:t>s.kuehnlenz@mmu.ac.uk</a:t>
            </a:r>
            <a:endParaRPr lang="en-GB" dirty="0"/>
          </a:p>
          <a:p>
            <a:r>
              <a:rPr lang="en-GB" dirty="0"/>
              <a:t>Lecture week 2</a:t>
            </a:r>
          </a:p>
        </p:txBody>
      </p:sp>
    </p:spTree>
    <p:extLst>
      <p:ext uri="{BB962C8B-B14F-4D97-AF65-F5344CB8AC3E}">
        <p14:creationId xmlns:p14="http://schemas.microsoft.com/office/powerpoint/2010/main" val="2128746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7263" y="2165684"/>
            <a:ext cx="9144000" cy="916489"/>
          </a:xfrm>
        </p:spPr>
        <p:txBody>
          <a:bodyPr/>
          <a:lstStyle/>
          <a:p>
            <a:r>
              <a:rPr lang="en-GB" dirty="0">
                <a:latin typeface="+mn-lt"/>
                <a:cs typeface="Calibri"/>
              </a:rPr>
              <a:t>Unit 10</a:t>
            </a:r>
          </a:p>
        </p:txBody>
      </p:sp>
      <p:sp>
        <p:nvSpPr>
          <p:cNvPr id="3" name="Subtitle 2"/>
          <p:cNvSpPr>
            <a:spLocks noGrp="1"/>
          </p:cNvSpPr>
          <p:nvPr>
            <p:ph type="subTitle" idx="1"/>
          </p:nvPr>
        </p:nvSpPr>
        <p:spPr>
          <a:xfrm>
            <a:off x="1497263" y="3281196"/>
            <a:ext cx="9144000" cy="1655762"/>
          </a:xfrm>
        </p:spPr>
        <p:txBody>
          <a:bodyPr>
            <a:normAutofit/>
          </a:bodyPr>
          <a:lstStyle/>
          <a:p>
            <a:r>
              <a:rPr lang="en-GB" sz="3200" dirty="0"/>
              <a:t>BANKS, MONEY, AND THE CREDIT MARKET</a:t>
            </a:r>
          </a:p>
          <a:p>
            <a:endParaRPr lang="en-GB" sz="3200" dirty="0"/>
          </a:p>
        </p:txBody>
      </p:sp>
    </p:spTree>
    <p:extLst>
      <p:ext uri="{BB962C8B-B14F-4D97-AF65-F5344CB8AC3E}">
        <p14:creationId xmlns:p14="http://schemas.microsoft.com/office/powerpoint/2010/main" val="378570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654"/>
            <a:ext cx="10515600" cy="1011082"/>
          </a:xfrm>
        </p:spPr>
        <p:txBody>
          <a:bodyPr>
            <a:normAutofit/>
          </a:bodyPr>
          <a:lstStyle/>
          <a:p>
            <a:pPr algn="ctr"/>
            <a:r>
              <a:rPr lang="en-GB" dirty="0">
                <a:latin typeface="+mn-lt"/>
              </a:rPr>
              <a:t>What we talked about last week</a:t>
            </a:r>
          </a:p>
        </p:txBody>
      </p:sp>
      <p:sp>
        <p:nvSpPr>
          <p:cNvPr id="3" name="Content Placeholder 2"/>
          <p:cNvSpPr>
            <a:spLocks noGrp="1"/>
          </p:cNvSpPr>
          <p:nvPr>
            <p:ph idx="1"/>
          </p:nvPr>
        </p:nvSpPr>
        <p:spPr>
          <a:xfrm>
            <a:off x="404501" y="1318841"/>
            <a:ext cx="11382998" cy="4662509"/>
          </a:xfrm>
        </p:spPr>
        <p:txBody>
          <a:bodyPr>
            <a:normAutofit fontScale="92500" lnSpcReduction="10000"/>
          </a:bodyPr>
          <a:lstStyle/>
          <a:p>
            <a:r>
              <a:rPr lang="en-GB" dirty="0"/>
              <a:t>Hockey-stick growth indicative of increased GDP per capita</a:t>
            </a:r>
          </a:p>
          <a:p>
            <a:r>
              <a:rPr lang="en-GB" dirty="0"/>
              <a:t>Explanations for hockey-stick growth</a:t>
            </a:r>
          </a:p>
          <a:p>
            <a:pPr lvl="1"/>
            <a:r>
              <a:rPr lang="en-GB" dirty="0"/>
              <a:t>Industrial Revolution stipulated by technological progress (ongoing)</a:t>
            </a:r>
          </a:p>
          <a:p>
            <a:pPr lvl="1"/>
            <a:r>
              <a:rPr lang="en-GB" dirty="0"/>
              <a:t>Started at different times in different regions</a:t>
            </a:r>
          </a:p>
          <a:p>
            <a:r>
              <a:rPr lang="en-GB" dirty="0"/>
              <a:t>Does increasing GDP per capita mean everyone is better off and happier?</a:t>
            </a:r>
          </a:p>
          <a:p>
            <a:pPr lvl="1"/>
            <a:r>
              <a:rPr lang="en-GB" dirty="0"/>
              <a:t>Check graphs on inequality</a:t>
            </a:r>
          </a:p>
          <a:p>
            <a:pPr lvl="1"/>
            <a:r>
              <a:rPr lang="en-GB" dirty="0"/>
              <a:t>Wellbeing measurable via per capita GDP growth?</a:t>
            </a:r>
          </a:p>
          <a:p>
            <a:r>
              <a:rPr lang="en-GB" dirty="0"/>
              <a:t>Key concepts of capitalism (markets, firms, private property)</a:t>
            </a:r>
          </a:p>
          <a:p>
            <a:r>
              <a:rPr lang="en-GB" dirty="0"/>
              <a:t>Effects of Industrial Revolution on environment</a:t>
            </a:r>
          </a:p>
          <a:p>
            <a:r>
              <a:rPr lang="en-GB" dirty="0"/>
              <a:t>Remember: most explanations here are mainstream (there are other theories in economics with a different analysis, methodology, starting and end points)</a:t>
            </a:r>
          </a:p>
        </p:txBody>
      </p:sp>
    </p:spTree>
    <p:extLst>
      <p:ext uri="{BB962C8B-B14F-4D97-AF65-F5344CB8AC3E}">
        <p14:creationId xmlns:p14="http://schemas.microsoft.com/office/powerpoint/2010/main" val="401061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7449" y="1223682"/>
            <a:ext cx="10515600" cy="4935071"/>
          </a:xfrm>
        </p:spPr>
        <p:txBody>
          <a:bodyPr>
            <a:normAutofit/>
          </a:bodyPr>
          <a:lstStyle/>
          <a:p>
            <a:r>
              <a:rPr lang="en-US" sz="3900" dirty="0"/>
              <a:t>The role of commercial banks and the central bank in the economy</a:t>
            </a:r>
          </a:p>
          <a:p>
            <a:r>
              <a:rPr lang="en-US" sz="3900" dirty="0"/>
              <a:t>In most markets, money is the medium of exchange.</a:t>
            </a:r>
          </a:p>
          <a:p>
            <a:pPr lvl="1"/>
            <a:r>
              <a:rPr lang="en-US" sz="3200" dirty="0"/>
              <a:t>How do banks create money?</a:t>
            </a:r>
          </a:p>
          <a:p>
            <a:r>
              <a:rPr lang="en-US" sz="3900" dirty="0"/>
              <a:t>The role of financial markets and market evaluations</a:t>
            </a:r>
          </a:p>
          <a:p>
            <a:pPr lvl="1"/>
            <a:endParaRPr lang="en-US" sz="4000" dirty="0"/>
          </a:p>
          <a:p>
            <a:pPr marL="0" indent="0">
              <a:buNone/>
            </a:pPr>
            <a:endParaRPr lang="en-US" sz="4000" b="1" dirty="0"/>
          </a:p>
        </p:txBody>
      </p:sp>
      <p:sp>
        <p:nvSpPr>
          <p:cNvPr id="6" name="TextBox 5"/>
          <p:cNvSpPr txBox="1"/>
          <p:nvPr/>
        </p:nvSpPr>
        <p:spPr>
          <a:xfrm>
            <a:off x="803436" y="137622"/>
            <a:ext cx="10511587" cy="830997"/>
          </a:xfrm>
          <a:prstGeom prst="rect">
            <a:avLst/>
          </a:prstGeom>
          <a:noFill/>
        </p:spPr>
        <p:txBody>
          <a:bodyPr wrap="square" rtlCol="0">
            <a:spAutoFit/>
          </a:bodyPr>
          <a:lstStyle/>
          <a:p>
            <a:pPr algn="ctr"/>
            <a:r>
              <a:rPr lang="en-GB" sz="4800" dirty="0"/>
              <a:t>What we will talk about today</a:t>
            </a:r>
            <a:endParaRPr lang="en-US" sz="4800" dirty="0"/>
          </a:p>
        </p:txBody>
      </p:sp>
    </p:spTree>
    <p:extLst>
      <p:ext uri="{BB962C8B-B14F-4D97-AF65-F5344CB8AC3E}">
        <p14:creationId xmlns:p14="http://schemas.microsoft.com/office/powerpoint/2010/main" val="893463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2544583"/>
            <a:ext cx="10515600" cy="1768834"/>
          </a:xfrm>
        </p:spPr>
        <p:txBody>
          <a:bodyPr>
            <a:normAutofit/>
          </a:bodyPr>
          <a:lstStyle/>
          <a:p>
            <a:pPr algn="ctr"/>
            <a:r>
              <a:rPr lang="en-GB" dirty="0">
                <a:latin typeface="+mn-lt"/>
              </a:rPr>
              <a:t>Income, Borrowing, Saving and the Balance sheet</a:t>
            </a:r>
          </a:p>
        </p:txBody>
      </p:sp>
    </p:spTree>
    <p:extLst>
      <p:ext uri="{BB962C8B-B14F-4D97-AF65-F5344CB8AC3E}">
        <p14:creationId xmlns:p14="http://schemas.microsoft.com/office/powerpoint/2010/main" val="1847558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0"/>
            <a:ext cx="10515600" cy="935641"/>
          </a:xfrm>
        </p:spPr>
        <p:txBody>
          <a:bodyPr>
            <a:normAutofit/>
          </a:bodyPr>
          <a:lstStyle/>
          <a:p>
            <a:pPr algn="ctr"/>
            <a:r>
              <a:rPr lang="en-GB" sz="4800" dirty="0">
                <a:latin typeface="+mn-lt"/>
              </a:rPr>
              <a:t>Income and wealth</a:t>
            </a:r>
          </a:p>
        </p:txBody>
      </p:sp>
      <p:sp>
        <p:nvSpPr>
          <p:cNvPr id="6" name="TextBox 5"/>
          <p:cNvSpPr txBox="1"/>
          <p:nvPr/>
        </p:nvSpPr>
        <p:spPr>
          <a:xfrm>
            <a:off x="290313" y="1073339"/>
            <a:ext cx="7393577" cy="5601533"/>
          </a:xfrm>
          <a:prstGeom prst="rect">
            <a:avLst/>
          </a:prstGeom>
          <a:noFill/>
        </p:spPr>
        <p:txBody>
          <a:bodyPr wrap="square" rtlCol="0">
            <a:spAutoFit/>
          </a:bodyPr>
          <a:lstStyle/>
          <a:p>
            <a:pPr>
              <a:spcBef>
                <a:spcPts val="600"/>
              </a:spcBef>
              <a:spcAft>
                <a:spcPts val="600"/>
              </a:spcAft>
            </a:pPr>
            <a:r>
              <a:rPr lang="en-US" sz="2800" b="1" u="sng" dirty="0"/>
              <a:t>Wealth</a:t>
            </a:r>
            <a:r>
              <a:rPr lang="en-US" sz="2800" u="sng" dirty="0"/>
              <a:t>: </a:t>
            </a:r>
            <a:r>
              <a:rPr lang="en-GB" sz="2800" i="1" dirty="0"/>
              <a:t>Stock</a:t>
            </a:r>
            <a:r>
              <a:rPr lang="en-GB" sz="2800" dirty="0"/>
              <a:t> of things owned or value of that stock.</a:t>
            </a:r>
          </a:p>
          <a:p>
            <a:pPr marL="914400" lvl="1" indent="-457200">
              <a:spcBef>
                <a:spcPts val="600"/>
              </a:spcBef>
              <a:spcAft>
                <a:spcPts val="600"/>
              </a:spcAft>
              <a:buFont typeface="Arial" panose="020B0604020202020204" pitchFamily="34" charset="0"/>
              <a:buChar char="•"/>
            </a:pPr>
            <a:r>
              <a:rPr lang="en-GB" sz="2800" dirty="0"/>
              <a:t>(Market value of) buildings, land, machinery, capital goods – debts owed + debts owed to you</a:t>
            </a:r>
          </a:p>
          <a:p>
            <a:pPr>
              <a:spcBef>
                <a:spcPts val="600"/>
              </a:spcBef>
              <a:spcAft>
                <a:spcPts val="600"/>
              </a:spcAft>
            </a:pPr>
            <a:r>
              <a:rPr lang="en-US" sz="2800" b="1" u="sng" dirty="0"/>
              <a:t>Income</a:t>
            </a:r>
            <a:r>
              <a:rPr lang="en-US" sz="2800" u="sng" dirty="0"/>
              <a:t>: </a:t>
            </a:r>
            <a:r>
              <a:rPr lang="en-US" sz="2800" dirty="0"/>
              <a:t>T</a:t>
            </a:r>
            <a:r>
              <a:rPr lang="en-GB" sz="2800" dirty="0"/>
              <a:t>he amount of money one receives over some period of time (</a:t>
            </a:r>
            <a:r>
              <a:rPr lang="en-GB" sz="2800" i="1" dirty="0"/>
              <a:t>flow</a:t>
            </a:r>
            <a:r>
              <a:rPr lang="en-GB" sz="2800" dirty="0"/>
              <a:t>).</a:t>
            </a:r>
          </a:p>
          <a:p>
            <a:pPr marL="914400" lvl="1" indent="-457200">
              <a:spcBef>
                <a:spcPts val="600"/>
              </a:spcBef>
              <a:spcAft>
                <a:spcPts val="600"/>
              </a:spcAft>
              <a:buFont typeface="Arial" panose="020B0604020202020204" pitchFamily="34" charset="0"/>
              <a:buChar char="•"/>
            </a:pPr>
            <a:r>
              <a:rPr lang="en-GB" sz="2800" dirty="0"/>
              <a:t>From work, market earnings, investments, government. </a:t>
            </a:r>
          </a:p>
          <a:p>
            <a:pPr marL="914400" lvl="1" indent="-457200">
              <a:spcBef>
                <a:spcPts val="600"/>
              </a:spcBef>
              <a:spcAft>
                <a:spcPts val="600"/>
              </a:spcAft>
              <a:buFont typeface="Arial" panose="020B0604020202020204" pitchFamily="34" charset="0"/>
              <a:buChar char="•"/>
            </a:pPr>
            <a:r>
              <a:rPr lang="en-GB" sz="2800" i="1" dirty="0">
                <a:solidFill>
                  <a:srgbClr val="FF0000"/>
                </a:solidFill>
              </a:rPr>
              <a:t>Assumption </a:t>
            </a:r>
            <a:r>
              <a:rPr lang="en-GB" sz="2800" b="1" i="1" dirty="0">
                <a:solidFill>
                  <a:srgbClr val="FF0000"/>
                </a:solidFill>
              </a:rPr>
              <a:t>in this unit only</a:t>
            </a:r>
            <a:r>
              <a:rPr lang="en-GB" sz="2800" i="1" dirty="0">
                <a:solidFill>
                  <a:srgbClr val="FF0000"/>
                </a:solidFill>
              </a:rPr>
              <a:t>: disposable income (after tax) = gross income</a:t>
            </a:r>
          </a:p>
        </p:txBody>
      </p:sp>
      <p:pic>
        <p:nvPicPr>
          <p:cNvPr id="7" name="Picture 6" descr="figure-10-01.jpg"/>
          <p:cNvPicPr>
            <a:picLocks noChangeAspect="1"/>
          </p:cNvPicPr>
          <p:nvPr/>
        </p:nvPicPr>
        <p:blipFill>
          <a:blip r:embed="rId2"/>
          <a:srcRect l="17998" r="22626" b="2224"/>
          <a:stretch>
            <a:fillRect/>
          </a:stretch>
        </p:blipFill>
        <p:spPr>
          <a:xfrm>
            <a:off x="7911481" y="2453774"/>
            <a:ext cx="3736787" cy="3590318"/>
          </a:xfrm>
          <a:prstGeom prst="rect">
            <a:avLst/>
          </a:prstGeom>
        </p:spPr>
      </p:pic>
      <p:sp>
        <p:nvSpPr>
          <p:cNvPr id="3" name="TextBox 2"/>
          <p:cNvSpPr txBox="1"/>
          <p:nvPr/>
        </p:nvSpPr>
        <p:spPr>
          <a:xfrm>
            <a:off x="7683890" y="1094543"/>
            <a:ext cx="3818749" cy="1200329"/>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b="1" dirty="0"/>
              <a:t>Stock</a:t>
            </a:r>
            <a:r>
              <a:rPr lang="en-GB" dirty="0"/>
              <a:t>: quantity measured at point in time</a:t>
            </a:r>
          </a:p>
          <a:p>
            <a:r>
              <a:rPr lang="en-GB" b="1" dirty="0"/>
              <a:t>Flow: </a:t>
            </a:r>
            <a:r>
              <a:rPr lang="en-GB" dirty="0"/>
              <a:t>quantity measured per unit of time (annual income, hourly wage)</a:t>
            </a:r>
          </a:p>
        </p:txBody>
      </p:sp>
    </p:spTree>
    <p:extLst>
      <p:ext uri="{BB962C8B-B14F-4D97-AF65-F5344CB8AC3E}">
        <p14:creationId xmlns:p14="http://schemas.microsoft.com/office/powerpoint/2010/main" val="2141254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39" y="93725"/>
            <a:ext cx="10515600" cy="572848"/>
          </a:xfrm>
        </p:spPr>
        <p:txBody>
          <a:bodyPr>
            <a:normAutofit fontScale="90000"/>
          </a:bodyPr>
          <a:lstStyle/>
          <a:p>
            <a:pPr algn="ctr"/>
            <a:r>
              <a:rPr lang="en-GB" sz="4800" dirty="0">
                <a:latin typeface="+mn-lt"/>
              </a:rPr>
              <a:t>Other key concepts</a:t>
            </a:r>
          </a:p>
        </p:txBody>
      </p:sp>
      <p:sp>
        <p:nvSpPr>
          <p:cNvPr id="6" name="TextBox 5"/>
          <p:cNvSpPr txBox="1"/>
          <p:nvPr/>
        </p:nvSpPr>
        <p:spPr>
          <a:xfrm>
            <a:off x="524293" y="666573"/>
            <a:ext cx="7720475" cy="5970865"/>
          </a:xfrm>
          <a:prstGeom prst="rect">
            <a:avLst/>
          </a:prstGeom>
          <a:noFill/>
        </p:spPr>
        <p:txBody>
          <a:bodyPr wrap="square" rtlCol="0">
            <a:spAutoFit/>
          </a:bodyPr>
          <a:lstStyle/>
          <a:p>
            <a:pPr>
              <a:spcBef>
                <a:spcPts val="600"/>
              </a:spcBef>
              <a:spcAft>
                <a:spcPts val="600"/>
              </a:spcAft>
            </a:pPr>
            <a:r>
              <a:rPr lang="en-US" sz="2600" b="1" u="sng" dirty="0"/>
              <a:t>Depreciation</a:t>
            </a:r>
            <a:r>
              <a:rPr lang="en-US" sz="2600" dirty="0"/>
              <a:t>: R</a:t>
            </a:r>
            <a:r>
              <a:rPr lang="en-GB" sz="2600" dirty="0" err="1"/>
              <a:t>eduction</a:t>
            </a:r>
            <a:r>
              <a:rPr lang="en-GB" sz="2600" dirty="0"/>
              <a:t> in the value of a stock of wealth over time (</a:t>
            </a:r>
            <a:r>
              <a:rPr lang="en-GB" sz="2600" i="1" dirty="0"/>
              <a:t>flow variable</a:t>
            </a:r>
            <a:r>
              <a:rPr lang="en-GB" sz="2600" dirty="0"/>
              <a:t>).</a:t>
            </a:r>
            <a:endParaRPr lang="en-US" sz="2600" b="1" dirty="0"/>
          </a:p>
          <a:p>
            <a:pPr>
              <a:spcBef>
                <a:spcPts val="600"/>
              </a:spcBef>
              <a:spcAft>
                <a:spcPts val="600"/>
              </a:spcAft>
            </a:pPr>
            <a:r>
              <a:rPr lang="en-GB" sz="2600" b="1" u="sng" dirty="0"/>
              <a:t>Net income</a:t>
            </a:r>
            <a:r>
              <a:rPr lang="en-GB" sz="2600" b="1" dirty="0"/>
              <a:t>: </a:t>
            </a:r>
            <a:r>
              <a:rPr lang="en-GB" sz="2600" dirty="0"/>
              <a:t>The maximum amount that one could consume without running down wealth. </a:t>
            </a:r>
          </a:p>
          <a:p>
            <a:pPr algn="ctr">
              <a:spcBef>
                <a:spcPts val="600"/>
              </a:spcBef>
              <a:spcAft>
                <a:spcPts val="600"/>
              </a:spcAft>
            </a:pPr>
            <a:r>
              <a:rPr lang="en-GB" sz="2600" b="1" dirty="0"/>
              <a:t>Net income = gross income – depreciation</a:t>
            </a:r>
            <a:endParaRPr lang="en-US" sz="2600" b="1" dirty="0"/>
          </a:p>
          <a:p>
            <a:pPr>
              <a:spcBef>
                <a:spcPts val="600"/>
              </a:spcBef>
              <a:spcAft>
                <a:spcPts val="600"/>
              </a:spcAft>
            </a:pPr>
            <a:r>
              <a:rPr lang="en-GB" sz="2600" b="1" u="sng" dirty="0"/>
              <a:t>Earnings</a:t>
            </a:r>
            <a:r>
              <a:rPr lang="en-GB" sz="2600" b="1" dirty="0"/>
              <a:t>: </a:t>
            </a:r>
            <a:r>
              <a:rPr lang="en-GB" sz="2600" dirty="0"/>
              <a:t>Wages, salaries, and other income from labour.</a:t>
            </a:r>
          </a:p>
          <a:p>
            <a:pPr>
              <a:spcBef>
                <a:spcPts val="600"/>
              </a:spcBef>
              <a:spcAft>
                <a:spcPts val="600"/>
              </a:spcAft>
            </a:pPr>
            <a:r>
              <a:rPr lang="en-GB" sz="2600" b="1" u="sng" dirty="0"/>
              <a:t>Consumption</a:t>
            </a:r>
            <a:r>
              <a:rPr lang="en-GB" sz="2600" b="1" dirty="0"/>
              <a:t>: </a:t>
            </a:r>
            <a:r>
              <a:rPr lang="en-GB" sz="2600" dirty="0"/>
              <a:t>Expenditure on goods and services</a:t>
            </a:r>
            <a:endParaRPr lang="en-US" sz="2600" dirty="0"/>
          </a:p>
          <a:p>
            <a:pPr>
              <a:spcBef>
                <a:spcPts val="600"/>
              </a:spcBef>
              <a:spcAft>
                <a:spcPts val="600"/>
              </a:spcAft>
            </a:pPr>
            <a:r>
              <a:rPr lang="en-US" sz="2600" b="1" u="sng" dirty="0"/>
              <a:t>Savings</a:t>
            </a:r>
            <a:r>
              <a:rPr lang="en-US" sz="2600" b="1" dirty="0"/>
              <a:t>:</a:t>
            </a:r>
            <a:r>
              <a:rPr lang="en-US" sz="2600" dirty="0"/>
              <a:t> Income that is not consumed (bank deposits)</a:t>
            </a:r>
          </a:p>
          <a:p>
            <a:pPr marL="914400" lvl="1" indent="-457200">
              <a:spcBef>
                <a:spcPts val="600"/>
              </a:spcBef>
              <a:spcAft>
                <a:spcPts val="600"/>
              </a:spcAft>
              <a:buFont typeface="Wingdings" panose="05000000000000000000" pitchFamily="2" charset="2"/>
              <a:buChar char="Ø"/>
            </a:pPr>
            <a:r>
              <a:rPr lang="en-US" sz="2600" dirty="0">
                <a:sym typeface="Wingdings" panose="05000000000000000000" pitchFamily="2" charset="2"/>
              </a:rPr>
              <a:t>Consumption expenditure is less than income</a:t>
            </a:r>
            <a:endParaRPr lang="en-US" sz="2600" dirty="0"/>
          </a:p>
          <a:p>
            <a:pPr>
              <a:spcBef>
                <a:spcPts val="600"/>
              </a:spcBef>
              <a:spcAft>
                <a:spcPts val="600"/>
              </a:spcAft>
            </a:pPr>
            <a:r>
              <a:rPr lang="en-US" sz="2600" b="1" u="sng" dirty="0"/>
              <a:t>Investment</a:t>
            </a:r>
            <a:r>
              <a:rPr lang="en-US" sz="2600" b="1" dirty="0"/>
              <a:t>:</a:t>
            </a:r>
            <a:r>
              <a:rPr lang="en-US" sz="2600" dirty="0"/>
              <a:t> Expenditure on newly produced capital goods (machinery, equipment, buildings).</a:t>
            </a:r>
          </a:p>
        </p:txBody>
      </p:sp>
      <p:pic>
        <p:nvPicPr>
          <p:cNvPr id="4" name="Picture 3" descr="figure-10-01.jpg"/>
          <p:cNvPicPr>
            <a:picLocks noChangeAspect="1"/>
          </p:cNvPicPr>
          <p:nvPr/>
        </p:nvPicPr>
        <p:blipFill>
          <a:blip r:embed="rId2"/>
          <a:srcRect l="17998" r="22626" b="2224"/>
          <a:stretch>
            <a:fillRect/>
          </a:stretch>
        </p:blipFill>
        <p:spPr>
          <a:xfrm>
            <a:off x="8244768" y="2111942"/>
            <a:ext cx="3736787" cy="3590318"/>
          </a:xfrm>
          <a:prstGeom prst="rect">
            <a:avLst/>
          </a:prstGeom>
        </p:spPr>
      </p:pic>
    </p:spTree>
    <p:extLst>
      <p:ext uri="{BB962C8B-B14F-4D97-AF65-F5344CB8AC3E}">
        <p14:creationId xmlns:p14="http://schemas.microsoft.com/office/powerpoint/2010/main" val="414387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igure-10-11.jpg"/>
          <p:cNvPicPr>
            <a:picLocks noChangeAspect="1"/>
          </p:cNvPicPr>
          <p:nvPr/>
        </p:nvPicPr>
        <p:blipFill>
          <a:blip r:embed="rId2"/>
          <a:stretch>
            <a:fillRect/>
          </a:stretch>
        </p:blipFill>
        <p:spPr>
          <a:xfrm>
            <a:off x="6451797" y="2177022"/>
            <a:ext cx="5521250" cy="3251336"/>
          </a:xfrm>
          <a:prstGeom prst="rect">
            <a:avLst/>
          </a:prstGeom>
        </p:spPr>
      </p:pic>
      <p:sp>
        <p:nvSpPr>
          <p:cNvPr id="2" name="Title 1"/>
          <p:cNvSpPr>
            <a:spLocks noGrp="1"/>
          </p:cNvSpPr>
          <p:nvPr>
            <p:ph type="title"/>
          </p:nvPr>
        </p:nvSpPr>
        <p:spPr>
          <a:xfrm>
            <a:off x="884565" y="165554"/>
            <a:ext cx="10515600" cy="935641"/>
          </a:xfrm>
        </p:spPr>
        <p:txBody>
          <a:bodyPr>
            <a:normAutofit/>
          </a:bodyPr>
          <a:lstStyle/>
          <a:p>
            <a:pPr algn="ctr"/>
            <a:r>
              <a:rPr lang="en-GB" sz="4800" dirty="0">
                <a:latin typeface="+mn-lt"/>
              </a:rPr>
              <a:t>Balance sheet</a:t>
            </a:r>
          </a:p>
        </p:txBody>
      </p:sp>
      <p:sp>
        <p:nvSpPr>
          <p:cNvPr id="6" name="TextBox 5"/>
          <p:cNvSpPr txBox="1"/>
          <p:nvPr/>
        </p:nvSpPr>
        <p:spPr>
          <a:xfrm>
            <a:off x="311396" y="1243074"/>
            <a:ext cx="6158325" cy="5016758"/>
          </a:xfrm>
          <a:prstGeom prst="rect">
            <a:avLst/>
          </a:prstGeom>
          <a:noFill/>
        </p:spPr>
        <p:txBody>
          <a:bodyPr wrap="square" rtlCol="0">
            <a:spAutoFit/>
          </a:bodyPr>
          <a:lstStyle/>
          <a:p>
            <a:r>
              <a:rPr lang="en-GB" sz="3200" dirty="0"/>
              <a:t>A </a:t>
            </a:r>
            <a:r>
              <a:rPr lang="en-GB" sz="3200" b="1" dirty="0"/>
              <a:t>balance sheet </a:t>
            </a:r>
            <a:r>
              <a:rPr lang="en-GB" sz="3200" dirty="0"/>
              <a:t>summarises what the bank, household or firm owns, and what it owes to others.</a:t>
            </a:r>
          </a:p>
          <a:p>
            <a:endParaRPr lang="en-GB" sz="3200" dirty="0"/>
          </a:p>
          <a:p>
            <a:r>
              <a:rPr lang="en-GB" sz="3200" b="1" dirty="0"/>
              <a:t>Assets</a:t>
            </a:r>
            <a:r>
              <a:rPr lang="en-GB" sz="3200" dirty="0"/>
              <a:t> = Anything of value that is owned. </a:t>
            </a:r>
          </a:p>
          <a:p>
            <a:r>
              <a:rPr lang="en-GB" sz="3200" b="1" dirty="0"/>
              <a:t>Liabilities </a:t>
            </a:r>
            <a:r>
              <a:rPr lang="en-GB" sz="3200" dirty="0"/>
              <a:t>= Anything of value that is owed. </a:t>
            </a:r>
          </a:p>
          <a:p>
            <a:r>
              <a:rPr lang="en-GB" sz="3200" b="1" dirty="0"/>
              <a:t>Net worth (savings) </a:t>
            </a:r>
            <a:r>
              <a:rPr lang="en-GB" sz="3200" dirty="0"/>
              <a:t>= assets - liabilities</a:t>
            </a:r>
            <a:endParaRPr lang="en-US" sz="3200" dirty="0"/>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1025"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97189" y="1371600"/>
            <a:ext cx="4667250" cy="447675"/>
          </a:xfrm>
          <a:prstGeom prst="rect">
            <a:avLst/>
          </a:prstGeom>
          <a:noFill/>
        </p:spPr>
      </p:pic>
    </p:spTree>
    <p:extLst>
      <p:ext uri="{BB962C8B-B14F-4D97-AF65-F5344CB8AC3E}">
        <p14:creationId xmlns:p14="http://schemas.microsoft.com/office/powerpoint/2010/main" val="1260035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38" y="0"/>
            <a:ext cx="10515600" cy="935641"/>
          </a:xfrm>
        </p:spPr>
        <p:txBody>
          <a:bodyPr>
            <a:normAutofit/>
          </a:bodyPr>
          <a:lstStyle/>
          <a:p>
            <a:pPr algn="ctr"/>
            <a:r>
              <a:rPr lang="en-GB" sz="4800" dirty="0">
                <a:latin typeface="+mn-lt"/>
              </a:rPr>
              <a:t>Commercial bank’s balance sheet</a:t>
            </a:r>
          </a:p>
        </p:txBody>
      </p:sp>
      <p:sp>
        <p:nvSpPr>
          <p:cNvPr id="7" name="TextBox 4"/>
          <p:cNvSpPr txBox="1"/>
          <p:nvPr/>
        </p:nvSpPr>
        <p:spPr>
          <a:xfrm>
            <a:off x="561212" y="5137529"/>
            <a:ext cx="10602685" cy="1569660"/>
          </a:xfrm>
          <a:prstGeom prst="rect">
            <a:avLst/>
          </a:prstGeom>
          <a:noFill/>
        </p:spPr>
        <p:txBody>
          <a:bodyPr wrap="square" rtlCol="0">
            <a:spAutoFit/>
          </a:bodyPr>
          <a:lstStyle/>
          <a:p>
            <a:r>
              <a:rPr lang="en-GB" sz="3200" b="1" dirty="0"/>
              <a:t>Assets: </a:t>
            </a:r>
            <a:r>
              <a:rPr lang="en-GB" sz="3200" dirty="0"/>
              <a:t>bank lending</a:t>
            </a:r>
            <a:endParaRPr lang="en-GB" sz="3200" b="1" dirty="0"/>
          </a:p>
          <a:p>
            <a:r>
              <a:rPr lang="en-GB" sz="3200" b="1" dirty="0"/>
              <a:t>Liabilities: </a:t>
            </a:r>
            <a:r>
              <a:rPr lang="en-GB" sz="3200" dirty="0"/>
              <a:t>bank borrowing (deposits and other)</a:t>
            </a:r>
          </a:p>
          <a:p>
            <a:pPr algn="ctr"/>
            <a:r>
              <a:rPr lang="en-GB" sz="3200" b="1" dirty="0"/>
              <a:t>Liabilities &gt; Assets: insolvency</a:t>
            </a:r>
          </a:p>
        </p:txBody>
      </p:sp>
      <p:graphicFrame>
        <p:nvGraphicFramePr>
          <p:cNvPr id="3074" name="Object 2"/>
          <p:cNvGraphicFramePr>
            <a:graphicFrameLocks noChangeAspect="1"/>
          </p:cNvGraphicFramePr>
          <p:nvPr/>
        </p:nvGraphicFramePr>
        <p:xfrm>
          <a:off x="1616841" y="935641"/>
          <a:ext cx="8763000" cy="4306751"/>
        </p:xfrm>
        <a:graphic>
          <a:graphicData uri="http://schemas.openxmlformats.org/presentationml/2006/ole">
            <mc:AlternateContent xmlns:mc="http://schemas.openxmlformats.org/markup-compatibility/2006">
              <mc:Choice xmlns:v="urn:schemas-microsoft-com:vml" Requires="v">
                <p:oleObj name="Document" r:id="rId2" imgW="5879884" imgH="3251080" progId="Word.Document.12">
                  <p:embed/>
                </p:oleObj>
              </mc:Choice>
              <mc:Fallback>
                <p:oleObj name="Document" r:id="rId2" imgW="5879884" imgH="3251080" progId="Word.Document.12">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841" y="935641"/>
                        <a:ext cx="8763000" cy="4306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 name="Gerade Verbindung mit Pfeil 3">
            <a:extLst>
              <a:ext uri="{FF2B5EF4-FFF2-40B4-BE49-F238E27FC236}">
                <a16:creationId xmlns:a16="http://schemas.microsoft.com/office/drawing/2014/main" id="{8813E932-B021-48FA-9A34-D0FB3E1942C6}"/>
              </a:ext>
            </a:extLst>
          </p:cNvPr>
          <p:cNvCxnSpPr/>
          <p:nvPr/>
        </p:nvCxnSpPr>
        <p:spPr>
          <a:xfrm>
            <a:off x="561214" y="2718033"/>
            <a:ext cx="87330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a:extLst>
              <a:ext uri="{FF2B5EF4-FFF2-40B4-BE49-F238E27FC236}">
                <a16:creationId xmlns:a16="http://schemas.microsoft.com/office/drawing/2014/main" id="{3F813B6D-DC6D-4EF8-B2C8-018625C221AA}"/>
              </a:ext>
            </a:extLst>
          </p:cNvPr>
          <p:cNvCxnSpPr/>
          <p:nvPr/>
        </p:nvCxnSpPr>
        <p:spPr>
          <a:xfrm>
            <a:off x="561213" y="3214381"/>
            <a:ext cx="87330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C6E03DB3-A971-4802-8360-3F66F2450BD6}"/>
              </a:ext>
            </a:extLst>
          </p:cNvPr>
          <p:cNvSpPr txBox="1"/>
          <p:nvPr/>
        </p:nvSpPr>
        <p:spPr>
          <a:xfrm>
            <a:off x="284109" y="3952597"/>
            <a:ext cx="1241569" cy="830997"/>
          </a:xfrm>
          <a:custGeom>
            <a:avLst/>
            <a:gdLst>
              <a:gd name="connsiteX0" fmla="*/ 0 w 1241569"/>
              <a:gd name="connsiteY0" fmla="*/ 0 h 830997"/>
              <a:gd name="connsiteX1" fmla="*/ 645616 w 1241569"/>
              <a:gd name="connsiteY1" fmla="*/ 0 h 830997"/>
              <a:gd name="connsiteX2" fmla="*/ 1241569 w 1241569"/>
              <a:gd name="connsiteY2" fmla="*/ 0 h 830997"/>
              <a:gd name="connsiteX3" fmla="*/ 1241569 w 1241569"/>
              <a:gd name="connsiteY3" fmla="*/ 398879 h 830997"/>
              <a:gd name="connsiteX4" fmla="*/ 1241569 w 1241569"/>
              <a:gd name="connsiteY4" fmla="*/ 830997 h 830997"/>
              <a:gd name="connsiteX5" fmla="*/ 620785 w 1241569"/>
              <a:gd name="connsiteY5" fmla="*/ 830997 h 830997"/>
              <a:gd name="connsiteX6" fmla="*/ 0 w 1241569"/>
              <a:gd name="connsiteY6" fmla="*/ 830997 h 830997"/>
              <a:gd name="connsiteX7" fmla="*/ 0 w 1241569"/>
              <a:gd name="connsiteY7" fmla="*/ 407189 h 830997"/>
              <a:gd name="connsiteX8" fmla="*/ 0 w 1241569"/>
              <a:gd name="connsiteY8"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1569" h="830997" extrusionOk="0">
                <a:moveTo>
                  <a:pt x="0" y="0"/>
                </a:moveTo>
                <a:cubicBezTo>
                  <a:pt x="203626" y="5266"/>
                  <a:pt x="401404" y="8016"/>
                  <a:pt x="645616" y="0"/>
                </a:cubicBezTo>
                <a:cubicBezTo>
                  <a:pt x="889828" y="-8016"/>
                  <a:pt x="1030455" y="25831"/>
                  <a:pt x="1241569" y="0"/>
                </a:cubicBezTo>
                <a:cubicBezTo>
                  <a:pt x="1244023" y="166010"/>
                  <a:pt x="1250225" y="223917"/>
                  <a:pt x="1241569" y="398879"/>
                </a:cubicBezTo>
                <a:cubicBezTo>
                  <a:pt x="1232913" y="573841"/>
                  <a:pt x="1261198" y="708115"/>
                  <a:pt x="1241569" y="830997"/>
                </a:cubicBezTo>
                <a:cubicBezTo>
                  <a:pt x="982146" y="859551"/>
                  <a:pt x="911717" y="825779"/>
                  <a:pt x="620785" y="830997"/>
                </a:cubicBezTo>
                <a:cubicBezTo>
                  <a:pt x="329853" y="836215"/>
                  <a:pt x="241477" y="854381"/>
                  <a:pt x="0" y="830997"/>
                </a:cubicBezTo>
                <a:cubicBezTo>
                  <a:pt x="-17943" y="719384"/>
                  <a:pt x="20113" y="497046"/>
                  <a:pt x="0" y="407189"/>
                </a:cubicBezTo>
                <a:cubicBezTo>
                  <a:pt x="-20113" y="317332"/>
                  <a:pt x="18236" y="128838"/>
                  <a:pt x="0" y="0"/>
                </a:cubicBezTo>
                <a:close/>
              </a:path>
            </a:pathLst>
          </a:custGeom>
          <a:noFill/>
          <a:ln>
            <a:solidFill>
              <a:schemeClr val="tx1"/>
            </a:solidFill>
            <a:extLst>
              <a:ext uri="{C807C97D-BFC1-408E-A445-0C87EB9F89A2}">
                <ask:lineSketchStyleProps xmlns:ask="http://schemas.microsoft.com/office/drawing/2018/sketchyshapes" sd="981765707">
                  <a:prstGeom prst="rect">
                    <a:avLst/>
                  </a:prstGeom>
                  <ask:type>
                    <ask:lineSketchFreehand/>
                  </ask:type>
                </ask:lineSketchStyleProps>
              </a:ext>
            </a:extLst>
          </a:ln>
        </p:spPr>
        <p:txBody>
          <a:bodyPr wrap="square" rtlCol="0">
            <a:spAutoFit/>
          </a:bodyPr>
          <a:lstStyle/>
          <a:p>
            <a:pPr algn="ctr"/>
            <a:r>
              <a:rPr lang="en-GB" sz="1600" dirty="0"/>
              <a:t>Implications during crisis period?</a:t>
            </a:r>
          </a:p>
        </p:txBody>
      </p:sp>
      <p:cxnSp>
        <p:nvCxnSpPr>
          <p:cNvPr id="9" name="Gerade Verbindung mit Pfeil 8">
            <a:extLst>
              <a:ext uri="{FF2B5EF4-FFF2-40B4-BE49-F238E27FC236}">
                <a16:creationId xmlns:a16="http://schemas.microsoft.com/office/drawing/2014/main" id="{21FAF859-7B09-4658-9431-C51685C057C6}"/>
              </a:ext>
            </a:extLst>
          </p:cNvPr>
          <p:cNvCxnSpPr/>
          <p:nvPr/>
        </p:nvCxnSpPr>
        <p:spPr>
          <a:xfrm>
            <a:off x="561212" y="3643618"/>
            <a:ext cx="87330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8DB88F0-8285-456C-B7DC-88A79CC31EC4}"/>
              </a:ext>
            </a:extLst>
          </p:cNvPr>
          <p:cNvSpPr txBox="1"/>
          <p:nvPr/>
        </p:nvSpPr>
        <p:spPr>
          <a:xfrm>
            <a:off x="10243055" y="3088485"/>
            <a:ext cx="1241569" cy="830997"/>
          </a:xfrm>
          <a:custGeom>
            <a:avLst/>
            <a:gdLst>
              <a:gd name="connsiteX0" fmla="*/ 0 w 1241569"/>
              <a:gd name="connsiteY0" fmla="*/ 0 h 830997"/>
              <a:gd name="connsiteX1" fmla="*/ 583537 w 1241569"/>
              <a:gd name="connsiteY1" fmla="*/ 0 h 830997"/>
              <a:gd name="connsiteX2" fmla="*/ 1241569 w 1241569"/>
              <a:gd name="connsiteY2" fmla="*/ 0 h 830997"/>
              <a:gd name="connsiteX3" fmla="*/ 1241569 w 1241569"/>
              <a:gd name="connsiteY3" fmla="*/ 432118 h 830997"/>
              <a:gd name="connsiteX4" fmla="*/ 1241569 w 1241569"/>
              <a:gd name="connsiteY4" fmla="*/ 830997 h 830997"/>
              <a:gd name="connsiteX5" fmla="*/ 658032 w 1241569"/>
              <a:gd name="connsiteY5" fmla="*/ 830997 h 830997"/>
              <a:gd name="connsiteX6" fmla="*/ 0 w 1241569"/>
              <a:gd name="connsiteY6" fmla="*/ 830997 h 830997"/>
              <a:gd name="connsiteX7" fmla="*/ 0 w 1241569"/>
              <a:gd name="connsiteY7" fmla="*/ 440428 h 830997"/>
              <a:gd name="connsiteX8" fmla="*/ 0 w 1241569"/>
              <a:gd name="connsiteY8"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1569" h="830997" extrusionOk="0">
                <a:moveTo>
                  <a:pt x="0" y="0"/>
                </a:moveTo>
                <a:cubicBezTo>
                  <a:pt x="168461" y="16231"/>
                  <a:pt x="423263" y="15038"/>
                  <a:pt x="583537" y="0"/>
                </a:cubicBezTo>
                <a:cubicBezTo>
                  <a:pt x="743811" y="-15038"/>
                  <a:pt x="1103964" y="-29501"/>
                  <a:pt x="1241569" y="0"/>
                </a:cubicBezTo>
                <a:cubicBezTo>
                  <a:pt x="1221777" y="107138"/>
                  <a:pt x="1257409" y="221641"/>
                  <a:pt x="1241569" y="432118"/>
                </a:cubicBezTo>
                <a:cubicBezTo>
                  <a:pt x="1225729" y="642595"/>
                  <a:pt x="1221639" y="734334"/>
                  <a:pt x="1241569" y="830997"/>
                </a:cubicBezTo>
                <a:cubicBezTo>
                  <a:pt x="977387" y="837861"/>
                  <a:pt x="779386" y="858514"/>
                  <a:pt x="658032" y="830997"/>
                </a:cubicBezTo>
                <a:cubicBezTo>
                  <a:pt x="536678" y="803480"/>
                  <a:pt x="263024" y="800516"/>
                  <a:pt x="0" y="830997"/>
                </a:cubicBezTo>
                <a:cubicBezTo>
                  <a:pt x="-8704" y="734252"/>
                  <a:pt x="11850" y="627104"/>
                  <a:pt x="0" y="440428"/>
                </a:cubicBezTo>
                <a:cubicBezTo>
                  <a:pt x="-11850" y="253752"/>
                  <a:pt x="-20844" y="90243"/>
                  <a:pt x="0" y="0"/>
                </a:cubicBezTo>
                <a:close/>
              </a:path>
            </a:pathLst>
          </a:custGeom>
          <a:noFill/>
          <a:ln>
            <a:solidFill>
              <a:schemeClr val="tx1"/>
            </a:solidFill>
            <a:extLst>
              <a:ext uri="{C807C97D-BFC1-408E-A445-0C87EB9F89A2}">
                <ask:lineSketchStyleProps xmlns:ask="http://schemas.microsoft.com/office/drawing/2018/sketchyshapes" sd="2650216993">
                  <a:prstGeom prst="rect">
                    <a:avLst/>
                  </a:prstGeom>
                  <ask:type>
                    <ask:lineSketchFreehand/>
                  </ask:type>
                </ask:lineSketchStyleProps>
              </a:ext>
            </a:extLst>
          </a:ln>
        </p:spPr>
        <p:txBody>
          <a:bodyPr wrap="square" rtlCol="0">
            <a:spAutoFit/>
          </a:bodyPr>
          <a:lstStyle/>
          <a:p>
            <a:pPr algn="ctr"/>
            <a:r>
              <a:rPr lang="en-GB" sz="1600" dirty="0"/>
              <a:t>Implications during crisis period?</a:t>
            </a:r>
          </a:p>
        </p:txBody>
      </p:sp>
      <p:cxnSp>
        <p:nvCxnSpPr>
          <p:cNvPr id="6" name="Gerade Verbindung mit Pfeil 5">
            <a:extLst>
              <a:ext uri="{FF2B5EF4-FFF2-40B4-BE49-F238E27FC236}">
                <a16:creationId xmlns:a16="http://schemas.microsoft.com/office/drawing/2014/main" id="{A70B9A71-5E90-470E-BD36-E81F26A92478}"/>
              </a:ext>
            </a:extLst>
          </p:cNvPr>
          <p:cNvCxnSpPr>
            <a:cxnSpLocks/>
          </p:cNvCxnSpPr>
          <p:nvPr/>
        </p:nvCxnSpPr>
        <p:spPr>
          <a:xfrm flipH="1">
            <a:off x="10146365" y="2894202"/>
            <a:ext cx="120147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B6E19EBD-2418-441F-B2C7-C887DACA705F}"/>
              </a:ext>
            </a:extLst>
          </p:cNvPr>
          <p:cNvSpPr txBox="1"/>
          <p:nvPr/>
        </p:nvSpPr>
        <p:spPr>
          <a:xfrm>
            <a:off x="10016455" y="834803"/>
            <a:ext cx="2023145" cy="1754326"/>
          </a:xfrm>
          <a:prstGeom prst="rect">
            <a:avLst/>
          </a:prstGeom>
          <a:noFill/>
        </p:spPr>
        <p:txBody>
          <a:bodyPr wrap="square" rtlCol="0">
            <a:spAutoFit/>
          </a:bodyPr>
          <a:lstStyle/>
          <a:p>
            <a:r>
              <a:rPr lang="en-GB" i="1" dirty="0"/>
              <a:t>Balance sheets are not static but dynamic – What does this mean for the </a:t>
            </a:r>
            <a:r>
              <a:rPr lang="en-GB" i="1" dirty="0" err="1"/>
              <a:t>bc</a:t>
            </a:r>
            <a:r>
              <a:rPr lang="en-GB" i="1" dirty="0"/>
              <a:t> or boom and bust episodes?</a:t>
            </a:r>
          </a:p>
        </p:txBody>
      </p:sp>
    </p:spTree>
    <p:extLst>
      <p:ext uri="{BB962C8B-B14F-4D97-AF65-F5344CB8AC3E}">
        <p14:creationId xmlns:p14="http://schemas.microsoft.com/office/powerpoint/2010/main" val="287449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661"/>
            <a:ext cx="10515600" cy="643278"/>
          </a:xfrm>
        </p:spPr>
        <p:txBody>
          <a:bodyPr>
            <a:normAutofit fontScale="90000"/>
          </a:bodyPr>
          <a:lstStyle/>
          <a:p>
            <a:pPr algn="ctr"/>
            <a:r>
              <a:rPr lang="en-GB" dirty="0">
                <a:latin typeface="+mn-lt"/>
              </a:rPr>
              <a:t>Bank assets</a:t>
            </a:r>
          </a:p>
        </p:txBody>
      </p:sp>
      <p:sp>
        <p:nvSpPr>
          <p:cNvPr id="6" name="Content Placeholder 5"/>
          <p:cNvSpPr>
            <a:spLocks noGrp="1"/>
          </p:cNvSpPr>
          <p:nvPr>
            <p:ph idx="1"/>
          </p:nvPr>
        </p:nvSpPr>
        <p:spPr>
          <a:xfrm>
            <a:off x="838200" y="649480"/>
            <a:ext cx="10515600" cy="5879507"/>
          </a:xfrm>
        </p:spPr>
        <p:txBody>
          <a:bodyPr>
            <a:normAutofit fontScale="77500" lnSpcReduction="20000"/>
          </a:bodyPr>
          <a:lstStyle/>
          <a:p>
            <a:r>
              <a:rPr lang="en-GB" sz="3100" b="1" i="1" dirty="0"/>
              <a:t>Cash and central bank reserves</a:t>
            </a:r>
            <a:r>
              <a:rPr lang="en-GB" sz="3100" dirty="0"/>
              <a:t>: Item 1 on the balance sheet is the cash it holds, plus the bank’s balance in its account at the central bank, called its reserve balances. Cash and reserves at the central bank are the bank’s readily accessible (liquid) funds. This is base money and amounts to a tiny fraction of the bank’s balance sheet—just 2% in this example of a typical contemporary bank. </a:t>
            </a:r>
          </a:p>
          <a:p>
            <a:r>
              <a:rPr lang="en-GB" sz="3100" b="1" i="1" dirty="0"/>
              <a:t>Bank</a:t>
            </a:r>
            <a:r>
              <a:rPr lang="en-GB" sz="3100" b="1" dirty="0"/>
              <a:t>’</a:t>
            </a:r>
            <a:r>
              <a:rPr lang="en-GB" sz="3100" b="1" i="1" dirty="0"/>
              <a:t>s own financial assets</a:t>
            </a:r>
            <a:r>
              <a:rPr lang="en-GB" sz="3100" b="1" dirty="0"/>
              <a:t>: </a:t>
            </a:r>
            <a:r>
              <a:rPr lang="en-GB" sz="3100" dirty="0"/>
              <a:t>These assets can be used as collateral for the bank’s borrowing in the money market. Banks borrow to replenish their cash balances when de­positors withdraw (or transfer) more funds than the bank has available.</a:t>
            </a:r>
          </a:p>
          <a:p>
            <a:r>
              <a:rPr lang="en-GB" sz="3100" b="1" i="1" dirty="0"/>
              <a:t>Loans to other banks</a:t>
            </a:r>
            <a:r>
              <a:rPr lang="en-GB" sz="3100" b="1" dirty="0"/>
              <a:t>: </a:t>
            </a:r>
            <a:r>
              <a:rPr lang="en-GB" sz="3100" dirty="0"/>
              <a:t>A bank will also have loans to other banks on its balance sheet.</a:t>
            </a:r>
          </a:p>
          <a:p>
            <a:pPr fontAlgn="base"/>
            <a:r>
              <a:rPr lang="en-GB" sz="3100" b="1" i="1" dirty="0"/>
              <a:t>Loans to households and firms</a:t>
            </a:r>
            <a:r>
              <a:rPr lang="en-GB" sz="3100" b="1" dirty="0"/>
              <a:t>: </a:t>
            </a:r>
            <a:r>
              <a:rPr lang="en-GB" sz="3100" dirty="0"/>
              <a:t>The bank’s lending activities are the largest item on the asset side. The loans made by the bank to households and firms make up 55% of the balance sheet. This is the bank’s core business. Some of this will be secured lending. A loan is se­cured if the borrower has provided collateral. In the case of housing loans, called mortgages, the value of the house is the collateral. Other bank loans are unsecured, like overdrafts, credit card balances, and consumer loans.</a:t>
            </a:r>
          </a:p>
          <a:p>
            <a:pPr fontAlgn="base"/>
            <a:r>
              <a:rPr lang="en-GB" sz="3100" b="1" i="1" dirty="0"/>
              <a:t>Bank assets:</a:t>
            </a:r>
            <a:r>
              <a:rPr lang="en-GB" sz="3100" dirty="0"/>
              <a:t> Buildings and equipment will be recorded on the asset side of the balance sheet</a:t>
            </a:r>
            <a:r>
              <a:rPr lang="en-GB" sz="3100" dirty="0">
                <a:latin typeface="+mj-lt"/>
              </a:rPr>
              <a:t>.</a:t>
            </a:r>
          </a:p>
          <a:p>
            <a:pPr marL="0" indent="0">
              <a:buNone/>
            </a:pPr>
            <a:endParaRPr lang="en-GB" dirty="0"/>
          </a:p>
          <a:p>
            <a:pPr marL="0" indent="0">
              <a:buNone/>
            </a:pPr>
            <a:endParaRPr lang="en-GB" dirty="0"/>
          </a:p>
          <a:p>
            <a:endParaRPr lang="en-GB" dirty="0"/>
          </a:p>
        </p:txBody>
      </p:sp>
    </p:spTree>
    <p:extLst>
      <p:ext uri="{BB962C8B-B14F-4D97-AF65-F5344CB8AC3E}">
        <p14:creationId xmlns:p14="http://schemas.microsoft.com/office/powerpoint/2010/main" val="74002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569"/>
            <a:ext cx="10515600" cy="754374"/>
          </a:xfrm>
        </p:spPr>
        <p:txBody>
          <a:bodyPr/>
          <a:lstStyle/>
          <a:p>
            <a:pPr algn="ctr"/>
            <a:r>
              <a:rPr lang="en-GB" dirty="0">
                <a:latin typeface="+mn-lt"/>
              </a:rPr>
              <a:t>Bank Liabilities</a:t>
            </a:r>
          </a:p>
        </p:txBody>
      </p:sp>
      <p:sp>
        <p:nvSpPr>
          <p:cNvPr id="3" name="Content Placeholder 2"/>
          <p:cNvSpPr>
            <a:spLocks noGrp="1"/>
          </p:cNvSpPr>
          <p:nvPr>
            <p:ph idx="1"/>
          </p:nvPr>
        </p:nvSpPr>
        <p:spPr>
          <a:xfrm>
            <a:off x="838200" y="828943"/>
            <a:ext cx="10515600" cy="5348020"/>
          </a:xfrm>
        </p:spPr>
        <p:txBody>
          <a:bodyPr/>
          <a:lstStyle/>
          <a:p>
            <a:r>
              <a:rPr lang="en-GB" b="1" i="1" dirty="0"/>
              <a:t>Bank deposits</a:t>
            </a:r>
            <a:r>
              <a:rPr lang="en-GB" dirty="0"/>
              <a:t>, making up 50% of the bank’s balance sheet in this example. The bank owes these to households and firms. As part of its profit-maximization decision, the bank makes a judgement about the likely demand by depositors to withdraw their deposits. Any bank must ensure that it has cash and reserves at the central bank to meet the demand by depositors for funds, and the net transfers they have made that day. Banks aim to hold the minimum prudent balances of cash and reserves (opportunity costs).</a:t>
            </a:r>
          </a:p>
          <a:p>
            <a:r>
              <a:rPr lang="en-GB" dirty="0"/>
              <a:t>For a typical bank, its equity is only a few per cent of its balance sheet. </a:t>
            </a:r>
          </a:p>
          <a:p>
            <a:r>
              <a:rPr lang="en-GB" dirty="0"/>
              <a:t>Banks: very debt-heavy</a:t>
            </a:r>
          </a:p>
        </p:txBody>
      </p:sp>
    </p:spTree>
    <p:extLst>
      <p:ext uri="{BB962C8B-B14F-4D97-AF65-F5344CB8AC3E}">
        <p14:creationId xmlns:p14="http://schemas.microsoft.com/office/powerpoint/2010/main" val="1508252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238" y="0"/>
            <a:ext cx="10515600" cy="935641"/>
          </a:xfrm>
        </p:spPr>
        <p:txBody>
          <a:bodyPr>
            <a:normAutofit/>
          </a:bodyPr>
          <a:lstStyle/>
          <a:p>
            <a:pPr algn="ctr"/>
            <a:r>
              <a:rPr lang="en-GB" sz="4800" dirty="0">
                <a:latin typeface="+mn-lt"/>
              </a:rPr>
              <a:t>Commercial bank’s balance sheet</a:t>
            </a:r>
          </a:p>
        </p:txBody>
      </p:sp>
      <p:sp>
        <p:nvSpPr>
          <p:cNvPr id="7" name="TextBox 4"/>
          <p:cNvSpPr txBox="1"/>
          <p:nvPr/>
        </p:nvSpPr>
        <p:spPr>
          <a:xfrm>
            <a:off x="644711" y="4462927"/>
            <a:ext cx="10890653" cy="1815882"/>
          </a:xfrm>
          <a:prstGeom prst="rect">
            <a:avLst/>
          </a:prstGeom>
          <a:noFill/>
        </p:spPr>
        <p:txBody>
          <a:bodyPr wrap="square" rtlCol="0">
            <a:spAutoFit/>
          </a:bodyPr>
          <a:lstStyle/>
          <a:p>
            <a:r>
              <a:rPr lang="en-US" sz="2800" b="1" dirty="0">
                <a:solidFill>
                  <a:srgbClr val="222222"/>
                </a:solidFill>
              </a:rPr>
              <a:t>Here: </a:t>
            </a:r>
            <a:r>
              <a:rPr lang="en-US" sz="2800" dirty="0">
                <a:solidFill>
                  <a:srgbClr val="222222"/>
                </a:solidFill>
              </a:rPr>
              <a:t>100/4 = 25 </a:t>
            </a:r>
            <a:r>
              <a:rPr lang="en-US" sz="2800" dirty="0">
                <a:solidFill>
                  <a:srgbClr val="222222"/>
                </a:solidFill>
                <a:sym typeface="Wingdings" panose="05000000000000000000" pitchFamily="2" charset="2"/>
              </a:rPr>
              <a:t> bank’s total assets are 25 times of it’s net-worth</a:t>
            </a:r>
            <a:endParaRPr lang="en-US" sz="2800" dirty="0">
              <a:solidFill>
                <a:srgbClr val="222222"/>
              </a:solidFill>
            </a:endParaRPr>
          </a:p>
          <a:p>
            <a:pPr marL="342900" indent="-342900">
              <a:buFont typeface="Arial" panose="020B0604020202020204" pitchFamily="34" charset="0"/>
              <a:buChar char="•"/>
            </a:pPr>
            <a:r>
              <a:rPr lang="en-US" sz="2800" dirty="0">
                <a:solidFill>
                  <a:srgbClr val="222222"/>
                </a:solidFill>
              </a:rPr>
              <a:t> 4% change in the  value of the bank’s assets would make the bank insolvent (1/25) </a:t>
            </a:r>
            <a:r>
              <a:rPr lang="en-US" sz="2800" dirty="0">
                <a:solidFill>
                  <a:srgbClr val="222222"/>
                </a:solidFill>
                <a:sym typeface="Wingdings" panose="05000000000000000000" pitchFamily="2" charset="2"/>
              </a:rPr>
              <a:t> that’s not much</a:t>
            </a:r>
          </a:p>
          <a:p>
            <a:pPr marL="342900" indent="-342900">
              <a:buFont typeface="Arial" panose="020B0604020202020204" pitchFamily="34" charset="0"/>
              <a:buChar char="•"/>
            </a:pPr>
            <a:r>
              <a:rPr lang="en-US" sz="2800" dirty="0">
                <a:solidFill>
                  <a:srgbClr val="222222"/>
                </a:solidFill>
                <a:sym typeface="Wingdings" panose="05000000000000000000" pitchFamily="2" charset="2"/>
              </a:rPr>
              <a:t>The smaller the leverage ratio, the better (the less vulnerable the bank)</a:t>
            </a:r>
            <a:endParaRPr lang="de-DE" sz="2800" dirty="0"/>
          </a:p>
        </p:txBody>
      </p:sp>
      <p:pic>
        <p:nvPicPr>
          <p:cNvPr id="12" name="Grafik 11">
            <a:extLst>
              <a:ext uri="{FF2B5EF4-FFF2-40B4-BE49-F238E27FC236}">
                <a16:creationId xmlns:a16="http://schemas.microsoft.com/office/drawing/2014/main" id="{57984C2C-00CD-42F0-8B3C-C8598266E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2608" y="935641"/>
            <a:ext cx="7322207" cy="3600000"/>
          </a:xfrm>
          <a:prstGeom prst="rect">
            <a:avLst/>
          </a:prstGeom>
        </p:spPr>
      </p:pic>
      <p:sp>
        <p:nvSpPr>
          <p:cNvPr id="13" name="Textfeld 12">
            <a:extLst>
              <a:ext uri="{FF2B5EF4-FFF2-40B4-BE49-F238E27FC236}">
                <a16:creationId xmlns:a16="http://schemas.microsoft.com/office/drawing/2014/main" id="{0A20E62C-52FE-430D-96E5-66DEB545F0CB}"/>
              </a:ext>
            </a:extLst>
          </p:cNvPr>
          <p:cNvSpPr txBox="1"/>
          <p:nvPr/>
        </p:nvSpPr>
        <p:spPr>
          <a:xfrm>
            <a:off x="310081" y="935641"/>
            <a:ext cx="3934437" cy="3108543"/>
          </a:xfrm>
          <a:prstGeom prst="rect">
            <a:avLst/>
          </a:prstGeom>
          <a:noFill/>
        </p:spPr>
        <p:txBody>
          <a:bodyPr wrap="square" rtlCol="0">
            <a:spAutoFit/>
          </a:bodyPr>
          <a:lstStyle/>
          <a:p>
            <a:r>
              <a:rPr lang="de-DE" sz="2800" b="1" i="0" dirty="0">
                <a:solidFill>
                  <a:srgbClr val="222222"/>
                </a:solidFill>
                <a:effectLst/>
              </a:rPr>
              <a:t>L</a:t>
            </a:r>
            <a:r>
              <a:rPr lang="en-US" sz="2800" b="1" i="0" dirty="0" err="1">
                <a:solidFill>
                  <a:srgbClr val="222222"/>
                </a:solidFill>
                <a:effectLst/>
              </a:rPr>
              <a:t>everage</a:t>
            </a:r>
            <a:r>
              <a:rPr lang="en-US" sz="2800" b="1" i="0" dirty="0">
                <a:solidFill>
                  <a:srgbClr val="222222"/>
                </a:solidFill>
                <a:effectLst/>
              </a:rPr>
              <a:t> ratio (for banks or households):</a:t>
            </a:r>
            <a:r>
              <a:rPr lang="en-US" sz="2800" b="0" i="0" dirty="0">
                <a:solidFill>
                  <a:srgbClr val="222222"/>
                </a:solidFill>
                <a:effectLst/>
              </a:rPr>
              <a:t> to give you an idea </a:t>
            </a:r>
            <a:r>
              <a:rPr lang="en-US" sz="2800" dirty="0">
                <a:solidFill>
                  <a:srgbClr val="222222"/>
                </a:solidFill>
              </a:rPr>
              <a:t>how volatile a bank is.</a:t>
            </a:r>
          </a:p>
          <a:p>
            <a:pPr marL="457200" indent="-457200">
              <a:buFont typeface="Arial" panose="020B0604020202020204" pitchFamily="34" charset="0"/>
              <a:buChar char="•"/>
            </a:pPr>
            <a:r>
              <a:rPr lang="en-US" sz="2800" b="0" i="0" dirty="0">
                <a:solidFill>
                  <a:srgbClr val="222222"/>
                </a:solidFill>
                <a:effectLst/>
              </a:rPr>
              <a:t>The value of assets divided by the equity stake in those assets.</a:t>
            </a:r>
          </a:p>
        </p:txBody>
      </p:sp>
    </p:spTree>
    <p:extLst>
      <p:ext uri="{BB962C8B-B14F-4D97-AF65-F5344CB8AC3E}">
        <p14:creationId xmlns:p14="http://schemas.microsoft.com/office/powerpoint/2010/main" val="460292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44931" y="2074333"/>
            <a:ext cx="7302137" cy="1886594"/>
          </a:xfrm>
        </p:spPr>
        <p:txBody>
          <a:bodyPr>
            <a:noAutofit/>
          </a:bodyPr>
          <a:lstStyle/>
          <a:p>
            <a:pPr algn="ctr"/>
            <a:r>
              <a:rPr lang="en-GB" dirty="0">
                <a:latin typeface="+mn-lt"/>
              </a:rPr>
              <a:t>The Financial System, Banks, and Money</a:t>
            </a:r>
          </a:p>
        </p:txBody>
      </p:sp>
    </p:spTree>
    <p:extLst>
      <p:ext uri="{BB962C8B-B14F-4D97-AF65-F5344CB8AC3E}">
        <p14:creationId xmlns:p14="http://schemas.microsoft.com/office/powerpoint/2010/main" val="4228979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54234C-B778-42B9-9565-047B64A79545}"/>
              </a:ext>
            </a:extLst>
          </p:cNvPr>
          <p:cNvSpPr>
            <a:spLocks noGrp="1"/>
          </p:cNvSpPr>
          <p:nvPr>
            <p:ph type="title"/>
          </p:nvPr>
        </p:nvSpPr>
        <p:spPr>
          <a:xfrm>
            <a:off x="838200" y="77259"/>
            <a:ext cx="10515600" cy="718608"/>
          </a:xfrm>
        </p:spPr>
        <p:txBody>
          <a:bodyPr/>
          <a:lstStyle/>
          <a:p>
            <a:pPr algn="ctr"/>
            <a:r>
              <a:rPr lang="en-GB" dirty="0">
                <a:latin typeface="+mn-lt"/>
              </a:rPr>
              <a:t>The financial system</a:t>
            </a:r>
          </a:p>
        </p:txBody>
      </p:sp>
      <p:sp>
        <p:nvSpPr>
          <p:cNvPr id="3" name="Inhaltsplatzhalter 2">
            <a:extLst>
              <a:ext uri="{FF2B5EF4-FFF2-40B4-BE49-F238E27FC236}">
                <a16:creationId xmlns:a16="http://schemas.microsoft.com/office/drawing/2014/main" id="{33C1D9BC-23AD-4641-8530-795950A1B578}"/>
              </a:ext>
            </a:extLst>
          </p:cNvPr>
          <p:cNvSpPr>
            <a:spLocks noGrp="1"/>
          </p:cNvSpPr>
          <p:nvPr>
            <p:ph idx="1"/>
          </p:nvPr>
        </p:nvSpPr>
        <p:spPr>
          <a:xfrm>
            <a:off x="838200" y="795867"/>
            <a:ext cx="10515600" cy="5833533"/>
          </a:xfrm>
        </p:spPr>
        <p:txBody>
          <a:bodyPr>
            <a:normAutofit fontScale="85000" lnSpcReduction="20000"/>
          </a:bodyPr>
          <a:lstStyle/>
          <a:p>
            <a:pPr marL="0" indent="0">
              <a:buNone/>
            </a:pPr>
            <a:r>
              <a:rPr lang="de-DE" b="1" u="sng" dirty="0"/>
              <a:t>Actors</a:t>
            </a:r>
          </a:p>
          <a:p>
            <a:r>
              <a:rPr lang="en-US" dirty="0">
                <a:solidFill>
                  <a:srgbClr val="222222"/>
                </a:solidFill>
              </a:rPr>
              <a:t>C</a:t>
            </a:r>
            <a:r>
              <a:rPr lang="en-US" b="0" i="0" dirty="0">
                <a:solidFill>
                  <a:srgbClr val="222222"/>
                </a:solidFill>
                <a:effectLst/>
              </a:rPr>
              <a:t>ommercial banks</a:t>
            </a:r>
          </a:p>
          <a:p>
            <a:pPr lvl="1"/>
            <a:r>
              <a:rPr lang="en-US" dirty="0">
                <a:solidFill>
                  <a:srgbClr val="222222"/>
                </a:solidFill>
              </a:rPr>
              <a:t>O</a:t>
            </a:r>
            <a:r>
              <a:rPr lang="en-US" b="0" i="0" dirty="0">
                <a:solidFill>
                  <a:srgbClr val="222222"/>
                </a:solidFill>
                <a:effectLst/>
              </a:rPr>
              <a:t>ffer financial services (deposit, ATMs, loans </a:t>
            </a:r>
            <a:r>
              <a:rPr lang="en-US" b="0" i="0" dirty="0" err="1">
                <a:solidFill>
                  <a:srgbClr val="222222"/>
                </a:solidFill>
                <a:effectLst/>
              </a:rPr>
              <a:t>ect</a:t>
            </a:r>
            <a:r>
              <a:rPr lang="en-US" dirty="0">
                <a:solidFill>
                  <a:srgbClr val="222222"/>
                </a:solidFill>
              </a:rPr>
              <a:t>.) and create money</a:t>
            </a:r>
            <a:endParaRPr lang="en-US" b="0" i="0" dirty="0">
              <a:solidFill>
                <a:srgbClr val="222222"/>
              </a:solidFill>
              <a:effectLst/>
            </a:endParaRPr>
          </a:p>
          <a:p>
            <a:r>
              <a:rPr lang="en-US" dirty="0">
                <a:solidFill>
                  <a:srgbClr val="222222"/>
                </a:solidFill>
              </a:rPr>
              <a:t>T</a:t>
            </a:r>
            <a:r>
              <a:rPr lang="en-US" b="0" i="0" dirty="0">
                <a:solidFill>
                  <a:srgbClr val="222222"/>
                </a:solidFill>
                <a:effectLst/>
              </a:rPr>
              <a:t>he central bank</a:t>
            </a:r>
          </a:p>
          <a:p>
            <a:pPr lvl="1"/>
            <a:r>
              <a:rPr lang="en-US" b="0" i="0" dirty="0">
                <a:solidFill>
                  <a:srgbClr val="222222"/>
                </a:solidFill>
                <a:effectLst/>
              </a:rPr>
              <a:t>Concerned with financial stability and economic growth</a:t>
            </a:r>
          </a:p>
          <a:p>
            <a:pPr lvl="2"/>
            <a:r>
              <a:rPr lang="en-US" b="0" i="0" dirty="0">
                <a:solidFill>
                  <a:srgbClr val="222222"/>
                </a:solidFill>
                <a:effectLst/>
              </a:rPr>
              <a:t>Inflation-rate targeting via policy interest rate (more on this in wk 5)</a:t>
            </a:r>
          </a:p>
          <a:p>
            <a:pPr lvl="1"/>
            <a:r>
              <a:rPr lang="en-US" b="0" i="0" dirty="0">
                <a:solidFill>
                  <a:srgbClr val="222222"/>
                </a:solidFill>
                <a:effectLst/>
              </a:rPr>
              <a:t>Lender of last resort</a:t>
            </a:r>
          </a:p>
          <a:p>
            <a:r>
              <a:rPr lang="en-US" dirty="0">
                <a:solidFill>
                  <a:srgbClr val="222222"/>
                </a:solidFill>
              </a:rPr>
              <a:t>P</a:t>
            </a:r>
            <a:r>
              <a:rPr lang="en-US" b="0" i="0" dirty="0">
                <a:solidFill>
                  <a:srgbClr val="222222"/>
                </a:solidFill>
                <a:effectLst/>
              </a:rPr>
              <a:t>ension funds</a:t>
            </a:r>
          </a:p>
          <a:p>
            <a:pPr lvl="1"/>
            <a:r>
              <a:rPr lang="en-US" b="0" i="0" dirty="0">
                <a:solidFill>
                  <a:srgbClr val="222222"/>
                </a:solidFill>
                <a:effectLst/>
              </a:rPr>
              <a:t>Pension funds manage the contributions of employees and employers, purchase financial assets using those contributions, and pay out pension benefits at retirement</a:t>
            </a:r>
          </a:p>
          <a:p>
            <a:r>
              <a:rPr lang="en-US" b="0" i="0" dirty="0">
                <a:solidFill>
                  <a:srgbClr val="222222"/>
                </a:solidFill>
                <a:effectLst/>
              </a:rPr>
              <a:t>Other financial institutions (e.g. insurance companies, investment banks, payday lenders, and specialist lenders, such as mortgage providers in the housing market)</a:t>
            </a:r>
          </a:p>
          <a:p>
            <a:r>
              <a:rPr lang="en-US" b="0" i="0" dirty="0">
                <a:solidFill>
                  <a:srgbClr val="222222"/>
                </a:solidFill>
                <a:effectLst/>
              </a:rPr>
              <a:t>Recently: fintech companies</a:t>
            </a:r>
          </a:p>
          <a:p>
            <a:endParaRPr lang="en-US" dirty="0">
              <a:solidFill>
                <a:srgbClr val="222222"/>
              </a:solidFill>
            </a:endParaRPr>
          </a:p>
          <a:p>
            <a:pPr marL="0" indent="0" algn="ctr">
              <a:buNone/>
            </a:pPr>
            <a:r>
              <a:rPr lang="en-US" b="0" i="1" dirty="0">
                <a:solidFill>
                  <a:srgbClr val="222222"/>
                </a:solidFill>
                <a:effectLst/>
              </a:rPr>
              <a:t>Households and non-bank firms are also part of the financial system when they buy, sell, borrow, lend, save, invest, and interact in other ways with banks and the central bank.</a:t>
            </a:r>
          </a:p>
        </p:txBody>
      </p:sp>
    </p:spTree>
    <p:extLst>
      <p:ext uri="{BB962C8B-B14F-4D97-AF65-F5344CB8AC3E}">
        <p14:creationId xmlns:p14="http://schemas.microsoft.com/office/powerpoint/2010/main" val="4105638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581E38-2AA0-4EB5-8427-15DFE222F586}"/>
              </a:ext>
            </a:extLst>
          </p:cNvPr>
          <p:cNvSpPr>
            <a:spLocks noGrp="1"/>
          </p:cNvSpPr>
          <p:nvPr>
            <p:ph type="title"/>
          </p:nvPr>
        </p:nvSpPr>
        <p:spPr>
          <a:xfrm>
            <a:off x="905933" y="85726"/>
            <a:ext cx="10515600" cy="820208"/>
          </a:xfrm>
        </p:spPr>
        <p:txBody>
          <a:bodyPr/>
          <a:lstStyle/>
          <a:p>
            <a:pPr algn="ctr"/>
            <a:r>
              <a:rPr lang="en-GB" dirty="0">
                <a:latin typeface="+mn-lt"/>
              </a:rPr>
              <a:t>The financial system</a:t>
            </a:r>
            <a:endParaRPr lang="de-DE" dirty="0"/>
          </a:p>
        </p:txBody>
      </p:sp>
      <p:sp>
        <p:nvSpPr>
          <p:cNvPr id="3" name="Inhaltsplatzhalter 2">
            <a:extLst>
              <a:ext uri="{FF2B5EF4-FFF2-40B4-BE49-F238E27FC236}">
                <a16:creationId xmlns:a16="http://schemas.microsoft.com/office/drawing/2014/main" id="{195731F6-D817-4E40-B4F1-A683C6822934}"/>
              </a:ext>
            </a:extLst>
          </p:cNvPr>
          <p:cNvSpPr>
            <a:spLocks noGrp="1"/>
          </p:cNvSpPr>
          <p:nvPr>
            <p:ph idx="1"/>
          </p:nvPr>
        </p:nvSpPr>
        <p:spPr>
          <a:xfrm>
            <a:off x="838200" y="795867"/>
            <a:ext cx="10515600" cy="5381096"/>
          </a:xfrm>
        </p:spPr>
        <p:txBody>
          <a:bodyPr>
            <a:normAutofit lnSpcReduction="10000"/>
          </a:bodyPr>
          <a:lstStyle/>
          <a:p>
            <a:pPr marL="0" indent="0">
              <a:buNone/>
            </a:pPr>
            <a:r>
              <a:rPr lang="en-GB" b="1" u="sng" dirty="0"/>
              <a:t>Markets</a:t>
            </a:r>
          </a:p>
          <a:p>
            <a:r>
              <a:rPr lang="en-US" dirty="0">
                <a:solidFill>
                  <a:srgbClr val="222222"/>
                </a:solidFill>
              </a:rPr>
              <a:t>M</a:t>
            </a:r>
            <a:r>
              <a:rPr lang="en-US" b="0" i="0" dirty="0">
                <a:solidFill>
                  <a:srgbClr val="222222"/>
                </a:solidFill>
                <a:effectLst/>
              </a:rPr>
              <a:t>oney market, stock market, housing market, and other financial markets (e.g. for government and corporate bonds, derivatives, and other financial assets)</a:t>
            </a:r>
          </a:p>
          <a:p>
            <a:r>
              <a:rPr lang="en-US" b="0" i="0" dirty="0">
                <a:solidFill>
                  <a:srgbClr val="222222"/>
                </a:solidFill>
                <a:effectLst/>
              </a:rPr>
              <a:t>Central bank and commercial banks lend to each other and other financial institutions in the money market</a:t>
            </a:r>
          </a:p>
          <a:p>
            <a:r>
              <a:rPr lang="en-US" b="0" i="0" dirty="0">
                <a:solidFill>
                  <a:srgbClr val="222222"/>
                </a:solidFill>
                <a:effectLst/>
              </a:rPr>
              <a:t>Companies make initial public offerings (IPOs) using the stock market</a:t>
            </a:r>
          </a:p>
          <a:p>
            <a:pPr lvl="1"/>
            <a:r>
              <a:rPr lang="en-US" dirty="0">
                <a:solidFill>
                  <a:srgbClr val="222222"/>
                </a:solidFill>
              </a:rPr>
              <a:t>IPO: s</a:t>
            </a:r>
            <a:r>
              <a:rPr lang="en-US" b="0" i="0" dirty="0">
                <a:solidFill>
                  <a:srgbClr val="222222"/>
                </a:solidFill>
                <a:effectLst/>
              </a:rPr>
              <a:t>hares in a company are sold to the general public for the first time and then traded </a:t>
            </a:r>
            <a:r>
              <a:rPr lang="en-US" dirty="0">
                <a:solidFill>
                  <a:srgbClr val="222222"/>
                </a:solidFill>
              </a:rPr>
              <a:t>on stock exchange</a:t>
            </a:r>
          </a:p>
          <a:p>
            <a:r>
              <a:rPr lang="en-US" dirty="0">
                <a:solidFill>
                  <a:srgbClr val="222222"/>
                </a:solidFill>
              </a:rPr>
              <a:t>H</a:t>
            </a:r>
            <a:r>
              <a:rPr lang="en-US" b="0" i="0" dirty="0">
                <a:solidFill>
                  <a:srgbClr val="222222"/>
                </a:solidFill>
                <a:effectLst/>
              </a:rPr>
              <a:t>ousing market with important role in the economy</a:t>
            </a:r>
          </a:p>
          <a:p>
            <a:pPr lvl="1"/>
            <a:r>
              <a:rPr lang="en-US" b="0" i="0" dirty="0">
                <a:solidFill>
                  <a:srgbClr val="222222"/>
                </a:solidFill>
                <a:effectLst/>
              </a:rPr>
              <a:t>Houses as main form of wealth of households (except for the very rich)</a:t>
            </a:r>
          </a:p>
          <a:p>
            <a:pPr lvl="1"/>
            <a:r>
              <a:rPr lang="en-US" b="0" i="0" dirty="0">
                <a:solidFill>
                  <a:srgbClr val="222222"/>
                </a:solidFill>
                <a:effectLst/>
              </a:rPr>
              <a:t>Households borrow long term from banks or specialist mortgage lenders to  buy houses</a:t>
            </a:r>
          </a:p>
          <a:p>
            <a:endParaRPr lang="en-GB" b="1" u="sng" dirty="0"/>
          </a:p>
        </p:txBody>
      </p:sp>
    </p:spTree>
    <p:extLst>
      <p:ext uri="{BB962C8B-B14F-4D97-AF65-F5344CB8AC3E}">
        <p14:creationId xmlns:p14="http://schemas.microsoft.com/office/powerpoint/2010/main" val="2836899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791"/>
            <a:ext cx="10515600" cy="720191"/>
          </a:xfrm>
        </p:spPr>
        <p:txBody>
          <a:bodyPr/>
          <a:lstStyle/>
          <a:p>
            <a:pPr algn="ctr"/>
            <a:r>
              <a:rPr lang="en-GB" dirty="0">
                <a:latin typeface="+mn-lt"/>
              </a:rPr>
              <a:t>The financial system</a:t>
            </a:r>
          </a:p>
        </p:txBody>
      </p:sp>
      <p:sp>
        <p:nvSpPr>
          <p:cNvPr id="3" name="Content Placeholder 2"/>
          <p:cNvSpPr>
            <a:spLocks noGrp="1"/>
          </p:cNvSpPr>
          <p:nvPr>
            <p:ph idx="1"/>
          </p:nvPr>
        </p:nvSpPr>
        <p:spPr>
          <a:xfrm>
            <a:off x="838200" y="788982"/>
            <a:ext cx="10515600" cy="1262010"/>
          </a:xfrm>
        </p:spPr>
        <p:txBody>
          <a:bodyPr>
            <a:normAutofit fontScale="92500" lnSpcReduction="10000"/>
          </a:bodyPr>
          <a:lstStyle/>
          <a:p>
            <a:pPr marL="0" indent="0">
              <a:buNone/>
            </a:pPr>
            <a:r>
              <a:rPr lang="en-GB" b="1" u="sng" dirty="0"/>
              <a:t>Financial assets: </a:t>
            </a:r>
            <a:r>
              <a:rPr lang="en-GB" dirty="0"/>
              <a:t>Stocks and bonds</a:t>
            </a:r>
          </a:p>
          <a:p>
            <a:r>
              <a:rPr lang="en-GB" dirty="0"/>
              <a:t>Both are a financial instrument to raise money through financial markets (and not via a bank loan)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7825" y="2129350"/>
            <a:ext cx="6716349" cy="4176000"/>
          </a:xfrm>
          <a:prstGeom prst="rect">
            <a:avLst/>
          </a:prstGeom>
        </p:spPr>
      </p:pic>
      <p:sp>
        <p:nvSpPr>
          <p:cNvPr id="5" name="TextBox 4"/>
          <p:cNvSpPr txBox="1"/>
          <p:nvPr/>
        </p:nvSpPr>
        <p:spPr>
          <a:xfrm>
            <a:off x="2737825" y="6383708"/>
            <a:ext cx="6636911" cy="276999"/>
          </a:xfrm>
          <a:prstGeom prst="rect">
            <a:avLst/>
          </a:prstGeom>
          <a:noFill/>
        </p:spPr>
        <p:txBody>
          <a:bodyPr wrap="square" rtlCol="0">
            <a:spAutoFit/>
          </a:bodyPr>
          <a:lstStyle/>
          <a:p>
            <a:pPr algn="ctr"/>
            <a:r>
              <a:rPr lang="en-GB" sz="1200" dirty="0"/>
              <a:t>Source: The Balance (2018)</a:t>
            </a:r>
          </a:p>
        </p:txBody>
      </p:sp>
    </p:spTree>
    <p:extLst>
      <p:ext uri="{BB962C8B-B14F-4D97-AF65-F5344CB8AC3E}">
        <p14:creationId xmlns:p14="http://schemas.microsoft.com/office/powerpoint/2010/main" val="2162037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1CB574-D237-4C4F-99EE-7D3CE485CDD0}"/>
              </a:ext>
            </a:extLst>
          </p:cNvPr>
          <p:cNvSpPr>
            <a:spLocks noGrp="1"/>
          </p:cNvSpPr>
          <p:nvPr>
            <p:ph type="title"/>
          </p:nvPr>
        </p:nvSpPr>
        <p:spPr>
          <a:xfrm>
            <a:off x="838200" y="48154"/>
            <a:ext cx="10515600" cy="633942"/>
          </a:xfrm>
        </p:spPr>
        <p:txBody>
          <a:bodyPr>
            <a:normAutofit fontScale="90000"/>
          </a:bodyPr>
          <a:lstStyle/>
          <a:p>
            <a:pPr algn="ctr"/>
            <a:r>
              <a:rPr lang="en-GB" dirty="0">
                <a:latin typeface="+mn-lt"/>
              </a:rPr>
              <a:t>What is money?</a:t>
            </a:r>
          </a:p>
        </p:txBody>
      </p:sp>
      <p:sp>
        <p:nvSpPr>
          <p:cNvPr id="3" name="Inhaltsplatzhalter 2">
            <a:extLst>
              <a:ext uri="{FF2B5EF4-FFF2-40B4-BE49-F238E27FC236}">
                <a16:creationId xmlns:a16="http://schemas.microsoft.com/office/drawing/2014/main" id="{D5096009-9C49-40A6-8CF7-48ED392F4F24}"/>
              </a:ext>
            </a:extLst>
          </p:cNvPr>
          <p:cNvSpPr>
            <a:spLocks noGrp="1"/>
          </p:cNvSpPr>
          <p:nvPr>
            <p:ph idx="1"/>
          </p:nvPr>
        </p:nvSpPr>
        <p:spPr>
          <a:xfrm>
            <a:off x="838200" y="682096"/>
            <a:ext cx="10515600" cy="5810779"/>
          </a:xfrm>
        </p:spPr>
        <p:txBody>
          <a:bodyPr>
            <a:normAutofit fontScale="92500" lnSpcReduction="10000"/>
          </a:bodyPr>
          <a:lstStyle/>
          <a:p>
            <a:r>
              <a:rPr lang="en-GB" dirty="0"/>
              <a:t>Physical (bank notes and coins) and digital (e.g. credit card, debit card)</a:t>
            </a:r>
          </a:p>
          <a:p>
            <a:r>
              <a:rPr lang="en-GB" dirty="0"/>
              <a:t>In modern economy (with fiat currency) money is an </a:t>
            </a:r>
            <a:r>
              <a:rPr lang="en-GB" b="1" i="1" dirty="0"/>
              <a:t>IOU</a:t>
            </a:r>
            <a:r>
              <a:rPr lang="en-GB" dirty="0"/>
              <a:t> – liability based money</a:t>
            </a:r>
          </a:p>
          <a:p>
            <a:pPr lvl="1"/>
            <a:r>
              <a:rPr lang="en-GB" dirty="0"/>
              <a:t>When money is created (CB or commercial bank) – liability is created</a:t>
            </a:r>
          </a:p>
          <a:p>
            <a:pPr lvl="1"/>
            <a:r>
              <a:rPr lang="en-US" b="0" i="0" dirty="0">
                <a:solidFill>
                  <a:srgbClr val="222222"/>
                </a:solidFill>
                <a:effectLst/>
                <a:latin typeface="Amiri"/>
              </a:rPr>
              <a:t>Possession of liability money: commercial bank or the central bank owes that amount, </a:t>
            </a:r>
            <a:r>
              <a:rPr lang="en-US" b="0" i="1" dirty="0">
                <a:solidFill>
                  <a:srgbClr val="222222"/>
                </a:solidFill>
                <a:effectLst/>
                <a:latin typeface="Amiri"/>
              </a:rPr>
              <a:t>and someone else will accept a transfer of all or part of that debt via electronic transfer or currency as a means of payment.</a:t>
            </a:r>
            <a:endParaRPr lang="en-GB" dirty="0"/>
          </a:p>
          <a:p>
            <a:pPr marL="0" indent="0">
              <a:buNone/>
            </a:pPr>
            <a:r>
              <a:rPr lang="en-GB" b="1" u="sng" dirty="0"/>
              <a:t>Three types of money:</a:t>
            </a:r>
          </a:p>
          <a:p>
            <a:pPr marL="0" indent="0">
              <a:buNone/>
            </a:pPr>
            <a:r>
              <a:rPr lang="en-GB" b="1" dirty="0"/>
              <a:t>Cash</a:t>
            </a:r>
            <a:r>
              <a:rPr lang="en-GB" dirty="0"/>
              <a:t>: coins and bank notes (liability of the  CB – risk free)</a:t>
            </a:r>
          </a:p>
          <a:p>
            <a:pPr lvl="1"/>
            <a:r>
              <a:rPr lang="en-GB" dirty="0"/>
              <a:t>For the UK: 3% </a:t>
            </a:r>
            <a:r>
              <a:rPr lang="en-GB" dirty="0">
                <a:sym typeface="Wingdings" panose="05000000000000000000" pitchFamily="2" charset="2"/>
              </a:rPr>
              <a:t> cash might/will be replaced in the future (CBDC’s)</a:t>
            </a:r>
            <a:endParaRPr lang="en-GB" dirty="0"/>
          </a:p>
          <a:p>
            <a:pPr marL="0" indent="0">
              <a:buNone/>
            </a:pPr>
            <a:r>
              <a:rPr lang="en-GB" b="1" dirty="0"/>
              <a:t>Reserves: </a:t>
            </a:r>
            <a:r>
              <a:rPr lang="en-GB" dirty="0"/>
              <a:t>commercial bank accounts at the central bank (liability of the CB – risk free)</a:t>
            </a:r>
          </a:p>
          <a:p>
            <a:pPr lvl="1"/>
            <a:r>
              <a:rPr lang="en-GB" dirty="0"/>
              <a:t>For the UK: 18%</a:t>
            </a:r>
          </a:p>
          <a:p>
            <a:pPr marL="0" indent="0">
              <a:buNone/>
            </a:pPr>
            <a:r>
              <a:rPr lang="en-GB" b="1" dirty="0"/>
              <a:t>Bank deposits: </a:t>
            </a:r>
            <a:r>
              <a:rPr lang="en-GB" dirty="0"/>
              <a:t>your account with a commercial bank (liability of commercial banks – not risk free)</a:t>
            </a:r>
          </a:p>
          <a:p>
            <a:pPr lvl="1"/>
            <a:r>
              <a:rPr lang="en-GB" dirty="0"/>
              <a:t>For the UK: 79%</a:t>
            </a:r>
          </a:p>
        </p:txBody>
      </p:sp>
    </p:spTree>
    <p:extLst>
      <p:ext uri="{BB962C8B-B14F-4D97-AF65-F5344CB8AC3E}">
        <p14:creationId xmlns:p14="http://schemas.microsoft.com/office/powerpoint/2010/main" val="2406235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79958"/>
            <a:ext cx="10515600" cy="605966"/>
          </a:xfrm>
        </p:spPr>
        <p:txBody>
          <a:bodyPr>
            <a:normAutofit fontScale="90000"/>
          </a:bodyPr>
          <a:lstStyle/>
          <a:p>
            <a:pPr algn="ctr"/>
            <a:r>
              <a:rPr lang="en-GB" sz="4800" dirty="0">
                <a:latin typeface="+mn-lt"/>
              </a:rPr>
              <a:t>Functions of money</a:t>
            </a:r>
          </a:p>
        </p:txBody>
      </p:sp>
      <p:sp>
        <p:nvSpPr>
          <p:cNvPr id="6" name="TextBox 5"/>
          <p:cNvSpPr txBox="1"/>
          <p:nvPr/>
        </p:nvSpPr>
        <p:spPr>
          <a:xfrm>
            <a:off x="435429" y="867489"/>
            <a:ext cx="11038114" cy="4985980"/>
          </a:xfrm>
          <a:prstGeom prst="rect">
            <a:avLst/>
          </a:prstGeom>
          <a:noFill/>
        </p:spPr>
        <p:txBody>
          <a:bodyPr wrap="square" rtlCol="0">
            <a:spAutoFit/>
          </a:bodyPr>
          <a:lstStyle/>
          <a:p>
            <a:pPr marL="457200" indent="-457200">
              <a:spcBef>
                <a:spcPts val="600"/>
              </a:spcBef>
              <a:spcAft>
                <a:spcPts val="600"/>
              </a:spcAft>
              <a:buFont typeface="Arial" panose="020B0604020202020204" pitchFamily="34" charset="0"/>
              <a:buChar char="•"/>
            </a:pPr>
            <a:r>
              <a:rPr lang="en-US" sz="2600" b="1" dirty="0"/>
              <a:t>Medium of exchange: </a:t>
            </a:r>
            <a:r>
              <a:rPr lang="en-US" sz="2600" dirty="0"/>
              <a:t>generally accepted to purchase goods or services</a:t>
            </a:r>
          </a:p>
          <a:p>
            <a:pPr marL="457200" indent="-457200">
              <a:spcBef>
                <a:spcPts val="600"/>
              </a:spcBef>
              <a:spcAft>
                <a:spcPts val="600"/>
              </a:spcAft>
              <a:buFont typeface="Arial" panose="020B0604020202020204" pitchFamily="34" charset="0"/>
              <a:buChar char="•"/>
            </a:pPr>
            <a:r>
              <a:rPr lang="en-GB" sz="2600" b="1" dirty="0"/>
              <a:t>Unit of account: </a:t>
            </a:r>
            <a:r>
              <a:rPr lang="en-GB" sz="2600" dirty="0"/>
              <a:t>e.g. clothing will be denominated in BP and not apples</a:t>
            </a:r>
          </a:p>
          <a:p>
            <a:pPr marL="457200" indent="-457200">
              <a:spcBef>
                <a:spcPts val="600"/>
              </a:spcBef>
              <a:spcAft>
                <a:spcPts val="600"/>
              </a:spcAft>
              <a:buFont typeface="Arial" panose="020B0604020202020204" pitchFamily="34" charset="0"/>
              <a:buChar char="•"/>
            </a:pPr>
            <a:r>
              <a:rPr lang="en-GB" sz="2600" b="1" dirty="0"/>
              <a:t>Store of value:</a:t>
            </a:r>
            <a:r>
              <a:rPr lang="en-GB" sz="2600" dirty="0"/>
              <a:t> your income today will buy the same goods and services tomorrow or a week/ year from now than it would now</a:t>
            </a:r>
          </a:p>
          <a:p>
            <a:pPr marL="457200" indent="-457200">
              <a:spcBef>
                <a:spcPts val="600"/>
              </a:spcBef>
              <a:spcAft>
                <a:spcPts val="600"/>
              </a:spcAft>
              <a:buFont typeface="Arial" panose="020B0604020202020204" pitchFamily="34" charset="0"/>
              <a:buChar char="•"/>
            </a:pPr>
            <a:r>
              <a:rPr lang="en-GB" sz="2600" dirty="0"/>
              <a:t>For money (in a fiat currency system) to do its work, everyone must</a:t>
            </a:r>
            <a:r>
              <a:rPr lang="en-GB" sz="2600" i="1" dirty="0"/>
              <a:t> </a:t>
            </a:r>
            <a:r>
              <a:rPr lang="en-GB" sz="2600" b="1" i="1" dirty="0"/>
              <a:t>trust</a:t>
            </a:r>
            <a:r>
              <a:rPr lang="en-GB" sz="2600" i="1" dirty="0"/>
              <a:t> </a:t>
            </a:r>
            <a:r>
              <a:rPr lang="en-GB" sz="2600" dirty="0"/>
              <a:t>that others will accept your money as payment. </a:t>
            </a:r>
          </a:p>
          <a:p>
            <a:pPr marL="914400" lvl="1" indent="-457200">
              <a:spcBef>
                <a:spcPts val="600"/>
              </a:spcBef>
              <a:spcAft>
                <a:spcPts val="600"/>
              </a:spcAft>
              <a:buFont typeface="Arial" panose="020B0604020202020204" pitchFamily="34" charset="0"/>
              <a:buChar char="•"/>
            </a:pPr>
            <a:r>
              <a:rPr lang="en-GB" sz="2600" dirty="0"/>
              <a:t>Money can be used by everyone to buy goods and services (which are sometimes payed at later date)</a:t>
            </a:r>
          </a:p>
          <a:p>
            <a:pPr marL="914400" lvl="1" indent="-457200">
              <a:spcBef>
                <a:spcPts val="600"/>
              </a:spcBef>
              <a:spcAft>
                <a:spcPts val="600"/>
              </a:spcAft>
              <a:buFont typeface="Arial" panose="020B0604020202020204" pitchFamily="34" charset="0"/>
              <a:buChar char="•"/>
            </a:pPr>
            <a:r>
              <a:rPr lang="en-GB" sz="2600" dirty="0"/>
              <a:t>Trust created: Stable government institutions (e.g. FED system, BoE, ECB)</a:t>
            </a:r>
          </a:p>
          <a:p>
            <a:pPr marL="1371600" lvl="2" indent="-457200">
              <a:spcBef>
                <a:spcPts val="600"/>
              </a:spcBef>
              <a:spcAft>
                <a:spcPts val="600"/>
              </a:spcAft>
              <a:buFont typeface="Arial" panose="020B0604020202020204" pitchFamily="34" charset="0"/>
              <a:buChar char="•"/>
            </a:pPr>
            <a:r>
              <a:rPr lang="en-GB" sz="2400" dirty="0"/>
              <a:t>Money issued by government (CB) as legal tender (usage enforced via taxes)</a:t>
            </a:r>
          </a:p>
        </p:txBody>
      </p:sp>
    </p:spTree>
    <p:extLst>
      <p:ext uri="{BB962C8B-B14F-4D97-AF65-F5344CB8AC3E}">
        <p14:creationId xmlns:p14="http://schemas.microsoft.com/office/powerpoint/2010/main" val="1507843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685" y="141194"/>
            <a:ext cx="10515600" cy="637751"/>
          </a:xfrm>
        </p:spPr>
        <p:txBody>
          <a:bodyPr>
            <a:normAutofit fontScale="90000"/>
          </a:bodyPr>
          <a:lstStyle/>
          <a:p>
            <a:pPr algn="ctr"/>
            <a:r>
              <a:rPr lang="en-GB" sz="4800" dirty="0">
                <a:latin typeface="+mn-lt"/>
              </a:rPr>
              <a:t>Central bank and central bank money</a:t>
            </a:r>
          </a:p>
        </p:txBody>
      </p:sp>
      <p:sp>
        <p:nvSpPr>
          <p:cNvPr id="6" name="TextBox 5"/>
          <p:cNvSpPr txBox="1"/>
          <p:nvPr/>
        </p:nvSpPr>
        <p:spPr>
          <a:xfrm>
            <a:off x="809655" y="764024"/>
            <a:ext cx="10437223" cy="5632311"/>
          </a:xfrm>
          <a:prstGeom prst="rect">
            <a:avLst/>
          </a:prstGeom>
          <a:noFill/>
        </p:spPr>
        <p:txBody>
          <a:bodyPr wrap="square" rtlCol="0">
            <a:spAutoFit/>
          </a:bodyPr>
          <a:lstStyle/>
          <a:p>
            <a:r>
              <a:rPr lang="en-GB" sz="2400" dirty="0"/>
              <a:t>The </a:t>
            </a:r>
            <a:r>
              <a:rPr lang="en-GB" sz="2400" b="1" dirty="0"/>
              <a:t>central bank </a:t>
            </a:r>
            <a:r>
              <a:rPr lang="en-GB" sz="2400" dirty="0"/>
              <a:t>is the only bank that can create </a:t>
            </a:r>
            <a:r>
              <a:rPr lang="en-GB" sz="2400" i="1" dirty="0"/>
              <a:t>legal tender</a:t>
            </a:r>
            <a:r>
              <a:rPr lang="en-GB" sz="2400" dirty="0"/>
              <a:t>.</a:t>
            </a:r>
          </a:p>
          <a:p>
            <a:pPr marL="457200" indent="-457200">
              <a:buFont typeface="Arial" panose="020B0604020202020204" pitchFamily="34" charset="0"/>
              <a:buChar char="•"/>
            </a:pPr>
            <a:r>
              <a:rPr lang="en-GB" sz="2400" dirty="0"/>
              <a:t>Not private entity but owned by government (nationalised) </a:t>
            </a:r>
            <a:endParaRPr lang="en-GB" sz="2400" dirty="0">
              <a:sym typeface="Wingdings" panose="05000000000000000000" pitchFamily="2" charset="2"/>
            </a:endParaRPr>
          </a:p>
          <a:p>
            <a:pPr marL="457200" indent="-457200">
              <a:buFont typeface="Arial" panose="020B0604020202020204" pitchFamily="34" charset="0"/>
              <a:buChar char="•"/>
            </a:pPr>
            <a:r>
              <a:rPr lang="en-GB" sz="2400" dirty="0">
                <a:sym typeface="Wingdings" panose="05000000000000000000" pitchFamily="2" charset="2"/>
              </a:rPr>
              <a:t>Not profit driven but concerned with overall </a:t>
            </a:r>
            <a:r>
              <a:rPr lang="en-GB" sz="2400" dirty="0"/>
              <a:t>financial and monetary stability (e.g. via inflation targeting – more on this </a:t>
            </a:r>
            <a:r>
              <a:rPr lang="en-GB" sz="2400"/>
              <a:t>in week </a:t>
            </a:r>
            <a:r>
              <a:rPr lang="en-GB" sz="2400" dirty="0"/>
              <a:t>5)</a:t>
            </a:r>
          </a:p>
          <a:p>
            <a:pPr marL="457200" indent="-457200">
              <a:buFont typeface="Arial" panose="020B0604020202020204" pitchFamily="34" charset="0"/>
              <a:buChar char="•"/>
            </a:pPr>
            <a:r>
              <a:rPr lang="en-GB" sz="2400" dirty="0"/>
              <a:t>Acts as the banker for the commercial banks, who have accounts at the central bank </a:t>
            </a:r>
          </a:p>
          <a:p>
            <a:pPr marL="457200" indent="-457200">
              <a:buFont typeface="Arial" panose="020B0604020202020204" pitchFamily="34" charset="0"/>
              <a:buChar char="•"/>
            </a:pPr>
            <a:r>
              <a:rPr lang="en-GB" sz="2400" dirty="0"/>
              <a:t>Lender of last resort (especially during crises – liquidity provision)</a:t>
            </a:r>
          </a:p>
          <a:p>
            <a:pPr marL="457200" indent="-457200">
              <a:buFont typeface="Arial" panose="020B0604020202020204" pitchFamily="34" charset="0"/>
              <a:buChar char="•"/>
            </a:pPr>
            <a:r>
              <a:rPr lang="en-GB" sz="2400" dirty="0"/>
              <a:t>Sets the policy interest rate</a:t>
            </a:r>
          </a:p>
          <a:p>
            <a:r>
              <a:rPr lang="en-GB" sz="2400" b="1" dirty="0"/>
              <a:t>CB money (base money, risk-free money): </a:t>
            </a:r>
          </a:p>
          <a:p>
            <a:pPr marL="457200" indent="-457200">
              <a:buFont typeface="Arial" panose="020B0604020202020204" pitchFamily="34" charset="0"/>
              <a:buChar char="•"/>
            </a:pPr>
            <a:r>
              <a:rPr lang="en-GB" sz="2400" dirty="0"/>
              <a:t>Cash held by households, firms, and banks</a:t>
            </a:r>
          </a:p>
          <a:p>
            <a:pPr marL="457200" indent="-457200">
              <a:buFont typeface="Arial" panose="020B0604020202020204" pitchFamily="34" charset="0"/>
              <a:buChar char="•"/>
            </a:pPr>
            <a:r>
              <a:rPr lang="en-GB" sz="2400" dirty="0"/>
              <a:t>Balances held by commercial banks in their accounts at the central bank (reserves) </a:t>
            </a:r>
          </a:p>
          <a:p>
            <a:pPr marL="457200" indent="-457200">
              <a:buFont typeface="Arial" panose="020B0604020202020204" pitchFamily="34" charset="0"/>
              <a:buChar char="•"/>
            </a:pPr>
            <a:r>
              <a:rPr lang="en-GB" sz="2400" dirty="0"/>
              <a:t>Liability (IOU) of the central bank </a:t>
            </a:r>
            <a:r>
              <a:rPr lang="en-GB" sz="2400" dirty="0">
                <a:sym typeface="Wingdings" panose="05000000000000000000" pitchFamily="2" charset="2"/>
              </a:rPr>
              <a:t> no default risk (risk-free)</a:t>
            </a:r>
          </a:p>
          <a:p>
            <a:pPr marL="457200" indent="-457200">
              <a:buFont typeface="Arial" panose="020B0604020202020204" pitchFamily="34" charset="0"/>
              <a:buChar char="•"/>
            </a:pPr>
            <a:r>
              <a:rPr lang="en-GB" sz="2400" dirty="0">
                <a:sym typeface="Wingdings" panose="05000000000000000000" pitchFamily="2" charset="2"/>
              </a:rPr>
              <a:t>CB creates money by crediting commercial bank accounts (digital money) and/ or by printing cash and creating coins (physical money)</a:t>
            </a:r>
            <a:endParaRPr lang="en-GB" sz="2400" dirty="0"/>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4269598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565" y="165555"/>
            <a:ext cx="10515600" cy="564288"/>
          </a:xfrm>
        </p:spPr>
        <p:txBody>
          <a:bodyPr>
            <a:normAutofit fontScale="90000"/>
          </a:bodyPr>
          <a:lstStyle/>
          <a:p>
            <a:pPr algn="ctr"/>
            <a:r>
              <a:rPr lang="en-GB" sz="4800" dirty="0">
                <a:latin typeface="+mn-lt"/>
              </a:rPr>
              <a:t>Commercial banks</a:t>
            </a:r>
          </a:p>
        </p:txBody>
      </p:sp>
      <p:sp>
        <p:nvSpPr>
          <p:cNvPr id="6" name="TextBox 5"/>
          <p:cNvSpPr txBox="1"/>
          <p:nvPr/>
        </p:nvSpPr>
        <p:spPr>
          <a:xfrm>
            <a:off x="779097" y="1006680"/>
            <a:ext cx="10437223" cy="5293757"/>
          </a:xfrm>
          <a:prstGeom prst="rect">
            <a:avLst/>
          </a:prstGeom>
          <a:noFill/>
        </p:spPr>
        <p:txBody>
          <a:bodyPr wrap="square" rtlCol="0">
            <a:spAutoFit/>
          </a:bodyPr>
          <a:lstStyle/>
          <a:p>
            <a:pPr marL="457200" indent="-457200">
              <a:buFont typeface="Arial" panose="020B0604020202020204" pitchFamily="34" charset="0"/>
              <a:buChar char="•"/>
            </a:pPr>
            <a:r>
              <a:rPr lang="en-GB" sz="2600" dirty="0">
                <a:sym typeface="Wingdings" panose="05000000000000000000" pitchFamily="2" charset="2"/>
              </a:rPr>
              <a:t>Commercial banks are private entities with a focus on profit</a:t>
            </a:r>
          </a:p>
          <a:p>
            <a:pPr marL="457200" indent="-457200">
              <a:buFont typeface="Arial" panose="020B0604020202020204" pitchFamily="34" charset="0"/>
              <a:buChar char="•"/>
            </a:pPr>
            <a:r>
              <a:rPr lang="en-GB" sz="2600" dirty="0"/>
              <a:t>Banks borrow from households (deposits), other banks, and the central bank. </a:t>
            </a:r>
          </a:p>
          <a:p>
            <a:pPr marL="457200" indent="-457200">
              <a:buFont typeface="Arial" panose="020B0604020202020204" pitchFamily="34" charset="0"/>
              <a:buChar char="•"/>
            </a:pPr>
            <a:r>
              <a:rPr lang="en-GB" sz="2600" dirty="0"/>
              <a:t>The interest they pay on deposits is lower than the interest they charge on loans (</a:t>
            </a:r>
            <a:r>
              <a:rPr lang="en-GB" sz="2800" b="0" i="0" dirty="0">
                <a:solidFill>
                  <a:srgbClr val="222222"/>
                </a:solidFill>
                <a:effectLst/>
              </a:rPr>
              <a:t>lending</a:t>
            </a:r>
            <a:r>
              <a:rPr lang="de-DE" sz="2800" b="0" i="0" dirty="0">
                <a:solidFill>
                  <a:srgbClr val="222222"/>
                </a:solidFill>
                <a:effectLst/>
              </a:rPr>
              <a:t> rate)</a:t>
            </a:r>
            <a:r>
              <a:rPr lang="en-GB" sz="2600" dirty="0"/>
              <a:t>, which is how banks make profits. </a:t>
            </a:r>
          </a:p>
          <a:p>
            <a:r>
              <a:rPr lang="en-US" sz="2600" b="1" dirty="0"/>
              <a:t>Commercial bank money:</a:t>
            </a:r>
          </a:p>
          <a:p>
            <a:pPr marL="457200" indent="-457200">
              <a:buFont typeface="Arial" panose="020B0604020202020204" pitchFamily="34" charset="0"/>
              <a:buChar char="•"/>
            </a:pPr>
            <a:r>
              <a:rPr lang="en-GB" sz="2600" dirty="0"/>
              <a:t>Households’ and firms’ deposits at commercial banks (digital money) called (commercial) bank money</a:t>
            </a:r>
          </a:p>
          <a:p>
            <a:pPr marL="457200" indent="-457200">
              <a:buFont typeface="Arial" panose="020B0604020202020204" pitchFamily="34" charset="0"/>
              <a:buChar char="•"/>
            </a:pPr>
            <a:r>
              <a:rPr lang="en-GB" sz="2600" dirty="0">
                <a:sym typeface="Wingdings" panose="05000000000000000000" pitchFamily="2" charset="2"/>
              </a:rPr>
              <a:t>Commercial bank money is the liability (IOU) of commercial bank  not risk-free</a:t>
            </a:r>
          </a:p>
          <a:p>
            <a:pPr marL="457200" indent="-457200">
              <a:buFont typeface="Arial" panose="020B0604020202020204" pitchFamily="34" charset="0"/>
              <a:buChar char="•"/>
            </a:pPr>
            <a:r>
              <a:rPr lang="en-GB" sz="2600" dirty="0"/>
              <a:t>Commercial banks </a:t>
            </a:r>
            <a:r>
              <a:rPr lang="en-GB" sz="2600" i="1" dirty="0"/>
              <a:t>create</a:t>
            </a:r>
            <a:r>
              <a:rPr lang="en-GB" sz="2600" dirty="0"/>
              <a:t> money by giving out loans to their customers (endogenous money creation)</a:t>
            </a:r>
            <a:r>
              <a:rPr lang="en-GB" sz="2600" dirty="0">
                <a:sym typeface="Wingdings" panose="05000000000000000000" pitchFamily="2" charset="2"/>
              </a:rPr>
              <a:t> money supply in the economy increases</a:t>
            </a:r>
          </a:p>
          <a:p>
            <a:pPr algn="ctr"/>
            <a:r>
              <a:rPr lang="en-GB" sz="2600" i="1" dirty="0">
                <a:sym typeface="Wingdings" panose="05000000000000000000" pitchFamily="2" charset="2"/>
              </a:rPr>
              <a:t>How is this done?</a:t>
            </a:r>
            <a:endParaRPr lang="en-GB" sz="2600" i="1" dirty="0"/>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558259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565" y="165554"/>
            <a:ext cx="10515600" cy="935641"/>
          </a:xfrm>
        </p:spPr>
        <p:txBody>
          <a:bodyPr>
            <a:normAutofit fontScale="90000"/>
          </a:bodyPr>
          <a:lstStyle/>
          <a:p>
            <a:pPr algn="ctr"/>
            <a:r>
              <a:rPr lang="en-GB" sz="4800" dirty="0">
                <a:latin typeface="+mn-lt"/>
              </a:rPr>
              <a:t>Creation of commercial bank money example</a:t>
            </a:r>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4"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 name="Tabella 2"/>
          <p:cNvGraphicFramePr>
            <a:graphicFrameLocks noGrp="1"/>
          </p:cNvGraphicFramePr>
          <p:nvPr>
            <p:extLst>
              <p:ext uri="{D42A27DB-BD31-4B8C-83A1-F6EECF244321}">
                <p14:modId xmlns:p14="http://schemas.microsoft.com/office/powerpoint/2010/main" val="172563930"/>
              </p:ext>
            </p:extLst>
          </p:nvPr>
        </p:nvGraphicFramePr>
        <p:xfrm>
          <a:off x="6641914" y="1707024"/>
          <a:ext cx="4908855" cy="3176450"/>
        </p:xfrm>
        <a:graphic>
          <a:graphicData uri="http://schemas.openxmlformats.org/drawingml/2006/table">
            <a:tbl>
              <a:tblPr/>
              <a:tblGrid>
                <a:gridCol w="2435853">
                  <a:extLst>
                    <a:ext uri="{9D8B030D-6E8A-4147-A177-3AD203B41FA5}">
                      <a16:colId xmlns:a16="http://schemas.microsoft.com/office/drawing/2014/main" val="20000"/>
                    </a:ext>
                  </a:extLst>
                </a:gridCol>
                <a:gridCol w="2473002">
                  <a:extLst>
                    <a:ext uri="{9D8B030D-6E8A-4147-A177-3AD203B41FA5}">
                      <a16:colId xmlns:a16="http://schemas.microsoft.com/office/drawing/2014/main" val="20001"/>
                    </a:ext>
                  </a:extLst>
                </a:gridCol>
              </a:tblGrid>
              <a:tr h="447802">
                <a:tc gridSpan="2">
                  <a:txBody>
                    <a:bodyPr/>
                    <a:lstStyle/>
                    <a:p>
                      <a:pPr algn="ctr" fontAlgn="ctr"/>
                      <a:r>
                        <a:rPr lang="it-IT" sz="1600" b="0" i="1" u="none" strike="noStrike" dirty="0">
                          <a:solidFill>
                            <a:srgbClr val="000000"/>
                          </a:solidFill>
                          <a:effectLst/>
                          <a:latin typeface="Calibri"/>
                          <a:cs typeface="Calibri"/>
                        </a:rPr>
                        <a:t>Bonus </a:t>
                      </a:r>
                      <a:r>
                        <a:rPr lang="en-GB" sz="1600" b="0" i="1" u="none" strike="noStrike" noProof="0" dirty="0">
                          <a:solidFill>
                            <a:srgbClr val="000000"/>
                          </a:solidFill>
                          <a:effectLst/>
                          <a:latin typeface="Calibri"/>
                          <a:cs typeface="Calibri"/>
                        </a:rPr>
                        <a:t>Bank gives Gino a loan </a:t>
                      </a:r>
                      <a:r>
                        <a:rPr lang="it-IT" sz="1600" b="0" i="1" u="none" strike="noStrike" dirty="0">
                          <a:solidFill>
                            <a:srgbClr val="000000"/>
                          </a:solidFill>
                          <a:effectLst/>
                          <a:latin typeface="Calibri"/>
                          <a:cs typeface="Calibri"/>
                        </a:rPr>
                        <a:t>of </a:t>
                      </a:r>
                      <a:r>
                        <a:rPr lang="en-GB" sz="1600" b="0" i="0" kern="1200" dirty="0">
                          <a:solidFill>
                            <a:schemeClr val="tx1"/>
                          </a:solidFill>
                          <a:effectLst/>
                          <a:latin typeface="+mn-lt"/>
                          <a:ea typeface="+mn-ea"/>
                          <a:cs typeface="+mn-cs"/>
                        </a:rPr>
                        <a:t>£</a:t>
                      </a:r>
                      <a:r>
                        <a:rPr lang="it-IT" sz="1600" b="0" i="1" u="none" strike="noStrike" dirty="0">
                          <a:solidFill>
                            <a:srgbClr val="000000"/>
                          </a:solidFill>
                          <a:effectLst/>
                          <a:latin typeface="Calibri"/>
                          <a:cs typeface="Calibri"/>
                        </a:rPr>
                        <a:t>100</a:t>
                      </a:r>
                    </a:p>
                  </a:txBody>
                  <a:tcPr marL="12700" marR="12700" marT="1270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it-IT"/>
                    </a:p>
                  </a:txBody>
                  <a:tcPr/>
                </a:tc>
                <a:extLst>
                  <a:ext uri="{0D108BD9-81ED-4DB2-BD59-A6C34878D82A}">
                    <a16:rowId xmlns:a16="http://schemas.microsoft.com/office/drawing/2014/main" val="10000"/>
                  </a:ext>
                </a:extLst>
              </a:tr>
              <a:tr h="778786">
                <a:tc>
                  <a:txBody>
                    <a:bodyPr/>
                    <a:lstStyle/>
                    <a:p>
                      <a:pPr algn="ctr" fontAlgn="ctr"/>
                      <a:r>
                        <a:rPr lang="en-GB" sz="1600" b="0" i="0" u="none" strike="noStrike" noProof="0" dirty="0">
                          <a:solidFill>
                            <a:srgbClr val="000000"/>
                          </a:solidFill>
                          <a:effectLst/>
                          <a:latin typeface="Calibri"/>
                          <a:cs typeface="Calibri"/>
                        </a:rPr>
                        <a:t>Bonus Bank’s assets</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D9C3"/>
                    </a:solidFill>
                  </a:tcPr>
                </a:tc>
                <a:tc>
                  <a:txBody>
                    <a:bodyPr/>
                    <a:lstStyle/>
                    <a:p>
                      <a:pPr algn="ctr" fontAlgn="ctr"/>
                      <a:r>
                        <a:rPr lang="en-GB" sz="1600" b="0" i="0" u="none" strike="noStrike" noProof="0" dirty="0">
                          <a:solidFill>
                            <a:srgbClr val="000000"/>
                          </a:solidFill>
                          <a:effectLst/>
                          <a:latin typeface="Calibri"/>
                          <a:cs typeface="Calibri"/>
                        </a:rPr>
                        <a:t>Bonus Bank’s liabilities</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D9C3"/>
                    </a:solidFill>
                  </a:tcPr>
                </a:tc>
                <a:extLst>
                  <a:ext uri="{0D108BD9-81ED-4DB2-BD59-A6C34878D82A}">
                    <a16:rowId xmlns:a16="http://schemas.microsoft.com/office/drawing/2014/main" val="10001"/>
                  </a:ext>
                </a:extLst>
              </a:tr>
              <a:tr h="750362">
                <a:tc>
                  <a:txBody>
                    <a:bodyPr/>
                    <a:lstStyle/>
                    <a:p>
                      <a:pPr algn="ctr" fontAlgn="ctr"/>
                      <a:r>
                        <a:rPr lang="en-GB" sz="1800" b="0" i="0" kern="1200" dirty="0">
                          <a:solidFill>
                            <a:schemeClr val="tx1"/>
                          </a:solidFill>
                          <a:effectLst/>
                          <a:latin typeface="+mn-lt"/>
                          <a:ea typeface="+mn-ea"/>
                          <a:cs typeface="+mn-cs"/>
                        </a:rPr>
                        <a:t>£</a:t>
                      </a:r>
                      <a:r>
                        <a:rPr lang="it-IT" sz="1600" b="0" i="0" u="none" strike="noStrike" dirty="0">
                          <a:solidFill>
                            <a:srgbClr val="000000"/>
                          </a:solidFill>
                          <a:effectLst/>
                          <a:latin typeface="Calibri"/>
                          <a:cs typeface="Calibri"/>
                        </a:rPr>
                        <a:t>20 cash </a:t>
                      </a:r>
                      <a:r>
                        <a:rPr lang="en-GB" sz="1600" b="0" i="0" u="none" strike="noStrike" noProof="0" dirty="0">
                          <a:solidFill>
                            <a:srgbClr val="000000"/>
                          </a:solidFill>
                          <a:effectLst/>
                          <a:latin typeface="Calibri"/>
                          <a:cs typeface="Calibri"/>
                        </a:rPr>
                        <a:t>deposit</a:t>
                      </a:r>
                      <a:r>
                        <a:rPr lang="it-IT" sz="1600" b="0" i="0" u="none" strike="noStrike" dirty="0">
                          <a:solidFill>
                            <a:srgbClr val="000000"/>
                          </a:solidFill>
                          <a:effectLst/>
                          <a:latin typeface="Calibri"/>
                          <a:cs typeface="Calibri"/>
                        </a:rPr>
                        <a:t> by Gino</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800" b="0" i="0" kern="1200" dirty="0">
                          <a:solidFill>
                            <a:schemeClr val="tx1"/>
                          </a:solidFill>
                          <a:effectLst/>
                          <a:latin typeface="+mn-lt"/>
                          <a:ea typeface="+mn-ea"/>
                          <a:cs typeface="+mn-cs"/>
                        </a:rPr>
                        <a:t>£</a:t>
                      </a:r>
                      <a:r>
                        <a:rPr lang="en-GB" sz="1600" b="0" i="0" u="none" strike="noStrike" noProof="0" dirty="0">
                          <a:solidFill>
                            <a:srgbClr val="000000"/>
                          </a:solidFill>
                          <a:effectLst/>
                          <a:latin typeface="Calibri"/>
                          <a:cs typeface="Calibri"/>
                        </a:rPr>
                        <a:t>20 payable on Gino’s demand</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7477">
                <a:tc>
                  <a:txBody>
                    <a:bodyPr/>
                    <a:lstStyle/>
                    <a:p>
                      <a:pPr algn="ctr" fontAlgn="ctr"/>
                      <a:r>
                        <a:rPr lang="en-GB" sz="1800" b="0" i="0" kern="1200" dirty="0">
                          <a:solidFill>
                            <a:schemeClr val="tx1"/>
                          </a:solidFill>
                          <a:effectLst/>
                          <a:latin typeface="+mn-lt"/>
                          <a:ea typeface="+mn-ea"/>
                          <a:cs typeface="+mn-cs"/>
                        </a:rPr>
                        <a:t>£</a:t>
                      </a:r>
                      <a:r>
                        <a:rPr lang="it-IT" sz="1600" b="0" i="0" u="none" strike="noStrike" dirty="0">
                          <a:solidFill>
                            <a:srgbClr val="000000"/>
                          </a:solidFill>
                          <a:effectLst/>
                          <a:latin typeface="Calibri"/>
                          <a:cs typeface="Calibri"/>
                        </a:rPr>
                        <a:t>100 </a:t>
                      </a:r>
                      <a:r>
                        <a:rPr lang="en-GB" sz="1600" b="0" i="0" u="none" strike="noStrike" noProof="0" dirty="0">
                          <a:solidFill>
                            <a:srgbClr val="000000"/>
                          </a:solidFill>
                          <a:effectLst/>
                          <a:latin typeface="Calibri"/>
                          <a:cs typeface="Calibri"/>
                        </a:rPr>
                        <a:t>bank loan </a:t>
                      </a:r>
                    </a:p>
                  </a:txBody>
                  <a:tcPr marL="12700" marR="12700" marT="12700" marB="0" anchor="ctr">
                    <a:lnL w="12700" cap="flat" cmpd="sng" algn="ctr">
                      <a:solidFill>
                        <a:srgbClr val="000000"/>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800" b="0" i="0" kern="1200" dirty="0">
                          <a:solidFill>
                            <a:schemeClr val="tx1"/>
                          </a:solidFill>
                          <a:effectLst/>
                          <a:latin typeface="+mn-lt"/>
                          <a:ea typeface="+mn-ea"/>
                          <a:cs typeface="+mn-cs"/>
                        </a:rPr>
                        <a:t>£</a:t>
                      </a:r>
                      <a:r>
                        <a:rPr lang="it-IT" sz="1600" b="0" i="0" u="none" strike="noStrike" dirty="0">
                          <a:solidFill>
                            <a:srgbClr val="000000"/>
                          </a:solidFill>
                          <a:effectLst/>
                          <a:latin typeface="Calibri"/>
                          <a:cs typeface="Calibri"/>
                        </a:rPr>
                        <a:t>100 </a:t>
                      </a:r>
                      <a:r>
                        <a:rPr lang="en-GB" sz="1600" b="0" i="0" u="none" strike="noStrike" noProof="0" dirty="0">
                          <a:solidFill>
                            <a:srgbClr val="000000"/>
                          </a:solidFill>
                          <a:effectLst/>
                          <a:latin typeface="Calibri"/>
                          <a:cs typeface="Calibri"/>
                        </a:rPr>
                        <a:t>payable on Gino’s demand</a:t>
                      </a:r>
                    </a:p>
                  </a:txBody>
                  <a:tcPr marL="12700" marR="12700" marT="1270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582023">
                <a:tc>
                  <a:txBody>
                    <a:bodyPr/>
                    <a:lstStyle/>
                    <a:p>
                      <a:pPr algn="ctr" fontAlgn="ctr"/>
                      <a:r>
                        <a:rPr lang="it-IT" sz="1600" b="1" i="1" u="none" strike="noStrike" dirty="0">
                          <a:solidFill>
                            <a:srgbClr val="000000"/>
                          </a:solidFill>
                          <a:effectLst/>
                          <a:latin typeface="Calibri"/>
                          <a:cs typeface="Calibri"/>
                        </a:rPr>
                        <a:t>Total: </a:t>
                      </a:r>
                      <a:r>
                        <a:rPr lang="en-GB" sz="1600" b="1" i="0" kern="1200" dirty="0">
                          <a:solidFill>
                            <a:schemeClr val="tx1"/>
                          </a:solidFill>
                          <a:effectLst/>
                          <a:latin typeface="+mn-lt"/>
                          <a:ea typeface="+mn-ea"/>
                          <a:cs typeface="+mn-cs"/>
                        </a:rPr>
                        <a:t>£</a:t>
                      </a:r>
                      <a:r>
                        <a:rPr lang="it-IT" sz="1600" b="1" i="1" u="none" strike="noStrike" dirty="0">
                          <a:solidFill>
                            <a:srgbClr val="000000"/>
                          </a:solidFill>
                          <a:effectLst/>
                          <a:latin typeface="Calibri"/>
                          <a:cs typeface="Calibri"/>
                        </a:rPr>
                        <a:t>120</a:t>
                      </a:r>
                    </a:p>
                  </a:txBody>
                  <a:tcPr marL="12700" marR="12700" marT="12700" marB="0" anchor="ctr">
                    <a:lnL w="12700" cap="flat" cmpd="sng" algn="ctr">
                      <a:solidFill>
                        <a:srgbClr val="000000"/>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it-IT" sz="1600" b="1" i="1" u="none" strike="noStrike" dirty="0">
                          <a:solidFill>
                            <a:srgbClr val="000000"/>
                          </a:solidFill>
                          <a:effectLst/>
                          <a:latin typeface="Calibri"/>
                          <a:cs typeface="Calibri"/>
                        </a:rPr>
                        <a:t>Total: </a:t>
                      </a:r>
                      <a:r>
                        <a:rPr lang="en-GB" sz="1600" b="1" i="0" kern="1200" dirty="0">
                          <a:solidFill>
                            <a:schemeClr val="tx1"/>
                          </a:solidFill>
                          <a:effectLst/>
                          <a:latin typeface="+mn-lt"/>
                          <a:ea typeface="+mn-ea"/>
                          <a:cs typeface="+mn-cs"/>
                        </a:rPr>
                        <a:t>£</a:t>
                      </a:r>
                      <a:r>
                        <a:rPr lang="it-IT" sz="1600" b="1" i="1" u="none" strike="noStrike" dirty="0">
                          <a:solidFill>
                            <a:srgbClr val="000000"/>
                          </a:solidFill>
                          <a:effectLst/>
                          <a:latin typeface="Calibri"/>
                          <a:cs typeface="Calibri"/>
                        </a:rPr>
                        <a:t>120 </a:t>
                      </a:r>
                      <a:r>
                        <a:rPr lang="en-GB" sz="1600" b="1" i="1" u="none" strike="noStrike" noProof="0" dirty="0">
                          <a:solidFill>
                            <a:srgbClr val="000000"/>
                          </a:solidFill>
                          <a:effectLst/>
                          <a:latin typeface="Calibri"/>
                          <a:cs typeface="Calibri"/>
                        </a:rPr>
                        <a:t>payable on Gino’s request</a:t>
                      </a:r>
                    </a:p>
                  </a:txBody>
                  <a:tcPr marL="12700" marR="12700" marT="12700" marB="0" anchor="ctr"/>
                </a:tc>
                <a:extLst>
                  <a:ext uri="{0D108BD9-81ED-4DB2-BD59-A6C34878D82A}">
                    <a16:rowId xmlns:a16="http://schemas.microsoft.com/office/drawing/2014/main" val="10004"/>
                  </a:ext>
                </a:extLst>
              </a:tr>
            </a:tbl>
          </a:graphicData>
        </a:graphic>
      </p:graphicFrame>
      <p:sp>
        <p:nvSpPr>
          <p:cNvPr id="13" name="TextBox 5">
            <a:extLst>
              <a:ext uri="{FF2B5EF4-FFF2-40B4-BE49-F238E27FC236}">
                <a16:creationId xmlns:a16="http://schemas.microsoft.com/office/drawing/2014/main" id="{09B57A7F-277E-40C9-ABBA-3DFBC1280BD1}"/>
              </a:ext>
            </a:extLst>
          </p:cNvPr>
          <p:cNvSpPr txBox="1"/>
          <p:nvPr/>
        </p:nvSpPr>
        <p:spPr>
          <a:xfrm>
            <a:off x="777140" y="5075764"/>
            <a:ext cx="10788324" cy="1200329"/>
          </a:xfrm>
          <a:prstGeom prst="rect">
            <a:avLst/>
          </a:prstGeom>
          <a:noFill/>
        </p:spPr>
        <p:txBody>
          <a:bodyPr wrap="square" rtlCol="0">
            <a:spAutoFit/>
          </a:bodyPr>
          <a:lstStyle/>
          <a:p>
            <a:pPr marL="457200" indent="-457200">
              <a:buFont typeface="Arial" panose="020B0604020202020204" pitchFamily="34" charset="0"/>
              <a:buChar char="•"/>
            </a:pPr>
            <a:r>
              <a:rPr lang="en-GB" sz="3200" dirty="0"/>
              <a:t>Newly created commercial bank money (digital form): </a:t>
            </a:r>
            <a:r>
              <a:rPr lang="en-GB" sz="3600" dirty="0"/>
              <a:t>£</a:t>
            </a:r>
            <a:r>
              <a:rPr lang="it-IT" sz="3200" dirty="0">
                <a:solidFill>
                  <a:srgbClr val="000000"/>
                </a:solidFill>
                <a:cs typeface="Calibri"/>
              </a:rPr>
              <a:t>100</a:t>
            </a:r>
          </a:p>
          <a:p>
            <a:pPr marL="914400" lvl="1" indent="-457200">
              <a:buFont typeface="Arial" panose="020B0604020202020204" pitchFamily="34" charset="0"/>
              <a:buChar char="•"/>
            </a:pPr>
            <a:r>
              <a:rPr lang="it-IT" sz="3200" dirty="0">
                <a:solidFill>
                  <a:srgbClr val="000000"/>
                </a:solidFill>
                <a:cs typeface="Calibri"/>
              </a:rPr>
              <a:t>The </a:t>
            </a:r>
            <a:r>
              <a:rPr lang="en-GB" sz="3200" dirty="0">
                <a:solidFill>
                  <a:srgbClr val="000000"/>
                </a:solidFill>
                <a:cs typeface="Calibri"/>
              </a:rPr>
              <a:t>total</a:t>
            </a:r>
            <a:r>
              <a:rPr lang="it-IT" sz="3200" dirty="0">
                <a:solidFill>
                  <a:srgbClr val="000000"/>
                </a:solidFill>
                <a:cs typeface="Calibri"/>
              </a:rPr>
              <a:t> money in the banking system </a:t>
            </a:r>
            <a:r>
              <a:rPr lang="en-GB" sz="3200" dirty="0">
                <a:solidFill>
                  <a:srgbClr val="000000"/>
                </a:solidFill>
                <a:cs typeface="Calibri"/>
              </a:rPr>
              <a:t>has</a:t>
            </a:r>
            <a:r>
              <a:rPr lang="it-IT" sz="3200" dirty="0">
                <a:solidFill>
                  <a:srgbClr val="000000"/>
                </a:solidFill>
                <a:cs typeface="Calibri"/>
              </a:rPr>
              <a:t> </a:t>
            </a:r>
            <a:r>
              <a:rPr lang="en-GB" sz="3200" dirty="0">
                <a:solidFill>
                  <a:srgbClr val="000000"/>
                </a:solidFill>
                <a:cs typeface="Calibri"/>
              </a:rPr>
              <a:t>grown</a:t>
            </a:r>
            <a:r>
              <a:rPr lang="it-IT" sz="3200" dirty="0">
                <a:solidFill>
                  <a:srgbClr val="000000"/>
                </a:solidFill>
                <a:cs typeface="Calibri"/>
              </a:rPr>
              <a:t> by </a:t>
            </a:r>
            <a:r>
              <a:rPr lang="en-GB" sz="3600" dirty="0"/>
              <a:t>£</a:t>
            </a:r>
            <a:r>
              <a:rPr lang="it-IT" sz="3200" dirty="0">
                <a:solidFill>
                  <a:srgbClr val="000000"/>
                </a:solidFill>
                <a:cs typeface="Calibri"/>
              </a:rPr>
              <a:t>100</a:t>
            </a:r>
          </a:p>
        </p:txBody>
      </p:sp>
      <p:graphicFrame>
        <p:nvGraphicFramePr>
          <p:cNvPr id="9" name="Tabella 2">
            <a:extLst>
              <a:ext uri="{FF2B5EF4-FFF2-40B4-BE49-F238E27FC236}">
                <a16:creationId xmlns:a16="http://schemas.microsoft.com/office/drawing/2014/main" id="{EBC824D4-A5A7-4210-BF19-353B5A498959}"/>
              </a:ext>
            </a:extLst>
          </p:cNvPr>
          <p:cNvGraphicFramePr>
            <a:graphicFrameLocks noGrp="1"/>
          </p:cNvGraphicFramePr>
          <p:nvPr>
            <p:extLst>
              <p:ext uri="{D42A27DB-BD31-4B8C-83A1-F6EECF244321}">
                <p14:modId xmlns:p14="http://schemas.microsoft.com/office/powerpoint/2010/main" val="1370229220"/>
              </p:ext>
            </p:extLst>
          </p:nvPr>
        </p:nvGraphicFramePr>
        <p:xfrm>
          <a:off x="755168" y="2104571"/>
          <a:ext cx="4908855" cy="2539304"/>
        </p:xfrm>
        <a:graphic>
          <a:graphicData uri="http://schemas.openxmlformats.org/drawingml/2006/table">
            <a:tbl>
              <a:tblPr/>
              <a:tblGrid>
                <a:gridCol w="2422324">
                  <a:extLst>
                    <a:ext uri="{9D8B030D-6E8A-4147-A177-3AD203B41FA5}">
                      <a16:colId xmlns:a16="http://schemas.microsoft.com/office/drawing/2014/main" val="20000"/>
                    </a:ext>
                  </a:extLst>
                </a:gridCol>
                <a:gridCol w="2486531">
                  <a:extLst>
                    <a:ext uri="{9D8B030D-6E8A-4147-A177-3AD203B41FA5}">
                      <a16:colId xmlns:a16="http://schemas.microsoft.com/office/drawing/2014/main" val="20001"/>
                    </a:ext>
                  </a:extLst>
                </a:gridCol>
              </a:tblGrid>
              <a:tr h="447802">
                <a:tc gridSpan="2">
                  <a:txBody>
                    <a:bodyPr/>
                    <a:lstStyle/>
                    <a:p>
                      <a:pPr algn="ctr" fontAlgn="ctr"/>
                      <a:r>
                        <a:rPr lang="it-IT" sz="1600" b="0" i="1" u="none" strike="noStrike" dirty="0">
                          <a:solidFill>
                            <a:srgbClr val="000000"/>
                          </a:solidFill>
                          <a:effectLst/>
                          <a:latin typeface="Calibri"/>
                          <a:cs typeface="Calibri"/>
                        </a:rPr>
                        <a:t>Bonus </a:t>
                      </a:r>
                      <a:r>
                        <a:rPr lang="en-GB" sz="1600" b="0" i="1" u="none" strike="noStrike" noProof="0" dirty="0">
                          <a:solidFill>
                            <a:srgbClr val="000000"/>
                          </a:solidFill>
                          <a:effectLst/>
                          <a:latin typeface="Calibri"/>
                          <a:cs typeface="Calibri"/>
                        </a:rPr>
                        <a:t>Bank balance sheet</a:t>
                      </a:r>
                      <a:endParaRPr lang="it-IT" sz="1600" b="0" i="1" u="none" strike="noStrike" dirty="0">
                        <a:solidFill>
                          <a:srgbClr val="000000"/>
                        </a:solidFill>
                        <a:effectLst/>
                        <a:latin typeface="Calibri"/>
                        <a:cs typeface="Calibri"/>
                      </a:endParaRPr>
                    </a:p>
                  </a:txBody>
                  <a:tcPr marL="12700" marR="12700" marT="1270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it-IT"/>
                    </a:p>
                  </a:txBody>
                  <a:tcPr/>
                </a:tc>
                <a:extLst>
                  <a:ext uri="{0D108BD9-81ED-4DB2-BD59-A6C34878D82A}">
                    <a16:rowId xmlns:a16="http://schemas.microsoft.com/office/drawing/2014/main" val="10000"/>
                  </a:ext>
                </a:extLst>
              </a:tr>
              <a:tr h="778786">
                <a:tc>
                  <a:txBody>
                    <a:bodyPr/>
                    <a:lstStyle/>
                    <a:p>
                      <a:pPr algn="ctr" fontAlgn="ctr"/>
                      <a:r>
                        <a:rPr lang="en-GB" sz="1600" b="0" i="0" u="none" strike="noStrike" noProof="0" dirty="0">
                          <a:solidFill>
                            <a:srgbClr val="000000"/>
                          </a:solidFill>
                          <a:effectLst/>
                          <a:latin typeface="Calibri"/>
                          <a:cs typeface="Calibri"/>
                        </a:rPr>
                        <a:t>Bonus Bank’s assets</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D9C3"/>
                    </a:solidFill>
                  </a:tcPr>
                </a:tc>
                <a:tc>
                  <a:txBody>
                    <a:bodyPr/>
                    <a:lstStyle/>
                    <a:p>
                      <a:pPr algn="ctr" fontAlgn="ctr"/>
                      <a:r>
                        <a:rPr lang="en-GB" sz="1600" b="0" i="0" u="none" strike="noStrike" noProof="0" dirty="0">
                          <a:solidFill>
                            <a:srgbClr val="000000"/>
                          </a:solidFill>
                          <a:effectLst/>
                          <a:latin typeface="Calibri"/>
                          <a:cs typeface="Calibri"/>
                        </a:rPr>
                        <a:t>Bonus Bank’s liabilities</a:t>
                      </a:r>
                    </a:p>
                  </a:txBody>
                  <a:tcPr marL="12700" marR="127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D9C3"/>
                    </a:solidFill>
                  </a:tcPr>
                </a:tc>
                <a:extLst>
                  <a:ext uri="{0D108BD9-81ED-4DB2-BD59-A6C34878D82A}">
                    <a16:rowId xmlns:a16="http://schemas.microsoft.com/office/drawing/2014/main" val="10001"/>
                  </a:ext>
                </a:extLst>
              </a:tr>
              <a:tr h="750361">
                <a:tc>
                  <a:txBody>
                    <a:bodyPr/>
                    <a:lstStyle/>
                    <a:p>
                      <a:pPr algn="ctr" fontAlgn="ctr"/>
                      <a:r>
                        <a:rPr lang="en-GB" sz="1800" b="0" i="0" kern="1200" dirty="0">
                          <a:solidFill>
                            <a:schemeClr val="tx1"/>
                          </a:solidFill>
                          <a:effectLst/>
                          <a:latin typeface="+mn-lt"/>
                          <a:ea typeface="+mn-ea"/>
                          <a:cs typeface="+mn-cs"/>
                        </a:rPr>
                        <a:t>£</a:t>
                      </a:r>
                      <a:r>
                        <a:rPr lang="it-IT" sz="1600" b="0" i="0" u="none" strike="noStrike" dirty="0">
                          <a:solidFill>
                            <a:srgbClr val="000000"/>
                          </a:solidFill>
                          <a:effectLst/>
                          <a:latin typeface="Calibri"/>
                          <a:cs typeface="Calibri"/>
                        </a:rPr>
                        <a:t>20 cash </a:t>
                      </a:r>
                      <a:r>
                        <a:rPr lang="en-GB" sz="1600" b="0" i="0" u="none" strike="noStrike" noProof="0" dirty="0">
                          <a:solidFill>
                            <a:srgbClr val="000000"/>
                          </a:solidFill>
                          <a:effectLst/>
                          <a:latin typeface="Calibri"/>
                          <a:cs typeface="Calibri"/>
                        </a:rPr>
                        <a:t>deposit</a:t>
                      </a:r>
                      <a:r>
                        <a:rPr lang="it-IT" sz="1600" b="0" i="0" u="none" strike="noStrike" dirty="0">
                          <a:solidFill>
                            <a:srgbClr val="000000"/>
                          </a:solidFill>
                          <a:effectLst/>
                          <a:latin typeface="Calibri"/>
                          <a:cs typeface="Calibri"/>
                        </a:rPr>
                        <a:t> by Gino</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800" b="0" i="0" kern="1200" dirty="0">
                          <a:solidFill>
                            <a:schemeClr val="tx1"/>
                          </a:solidFill>
                          <a:effectLst/>
                          <a:latin typeface="+mn-lt"/>
                          <a:ea typeface="+mn-ea"/>
                          <a:cs typeface="+mn-cs"/>
                        </a:rPr>
                        <a:t>£</a:t>
                      </a:r>
                      <a:r>
                        <a:rPr lang="en-GB" sz="1600" b="0" i="0" u="none" strike="noStrike" noProof="0" dirty="0">
                          <a:solidFill>
                            <a:srgbClr val="000000"/>
                          </a:solidFill>
                          <a:effectLst/>
                          <a:latin typeface="Calibri"/>
                          <a:cs typeface="Calibri"/>
                        </a:rPr>
                        <a:t>20 payable on Gino’s demand</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2355">
                <a:tc>
                  <a:txBody>
                    <a:bodyPr/>
                    <a:lstStyle/>
                    <a:p>
                      <a:pPr algn="ctr" fontAlgn="ctr"/>
                      <a:r>
                        <a:rPr lang="it-IT" sz="1600" b="1" i="1" u="none" strike="noStrike" dirty="0">
                          <a:solidFill>
                            <a:srgbClr val="000000"/>
                          </a:solidFill>
                          <a:effectLst/>
                          <a:latin typeface="Calibri"/>
                          <a:cs typeface="Calibri"/>
                        </a:rPr>
                        <a:t>Total: </a:t>
                      </a:r>
                      <a:r>
                        <a:rPr lang="en-GB" sz="1600" b="1" i="0" kern="1200" dirty="0">
                          <a:solidFill>
                            <a:schemeClr val="tx1"/>
                          </a:solidFill>
                          <a:effectLst/>
                          <a:latin typeface="+mn-lt"/>
                          <a:ea typeface="+mn-ea"/>
                          <a:cs typeface="+mn-cs"/>
                        </a:rPr>
                        <a:t>£</a:t>
                      </a:r>
                      <a:r>
                        <a:rPr lang="it-IT" sz="1600" b="1" i="1" u="none" strike="noStrike" kern="1200" dirty="0">
                          <a:solidFill>
                            <a:srgbClr val="000000"/>
                          </a:solidFill>
                          <a:effectLst/>
                          <a:latin typeface="Calibri"/>
                          <a:ea typeface="+mn-ea"/>
                          <a:cs typeface="Calibri"/>
                        </a:rPr>
                        <a:t>20</a:t>
                      </a:r>
                      <a:endParaRPr lang="it-IT" sz="1600" b="1" i="1" u="none" strike="noStrike" dirty="0">
                        <a:solidFill>
                          <a:srgbClr val="000000"/>
                        </a:solidFill>
                        <a:effectLst/>
                        <a:latin typeface="Calibri"/>
                        <a:cs typeface="Calibri"/>
                      </a:endParaRPr>
                    </a:p>
                  </a:txBody>
                  <a:tcPr marL="12700" marR="12700" marT="12700" marB="0" anchor="ctr">
                    <a:lnL w="12700" cap="flat" cmpd="sng" algn="ctr">
                      <a:solidFill>
                        <a:srgbClr val="000000"/>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it-IT" sz="1600" b="1" i="1" u="none" strike="noStrike" dirty="0">
                          <a:solidFill>
                            <a:srgbClr val="000000"/>
                          </a:solidFill>
                          <a:effectLst/>
                          <a:latin typeface="Calibri"/>
                          <a:cs typeface="Calibri"/>
                        </a:rPr>
                        <a:t>Total: </a:t>
                      </a:r>
                      <a:r>
                        <a:rPr lang="en-GB" sz="1600" b="1" i="0" kern="1200" dirty="0">
                          <a:solidFill>
                            <a:schemeClr val="tx1"/>
                          </a:solidFill>
                          <a:effectLst/>
                          <a:latin typeface="+mn-lt"/>
                          <a:ea typeface="+mn-ea"/>
                          <a:cs typeface="+mn-cs"/>
                        </a:rPr>
                        <a:t>£</a:t>
                      </a:r>
                      <a:r>
                        <a:rPr lang="it-IT" sz="1600" b="1" i="1" u="none" strike="noStrike" kern="1200" dirty="0">
                          <a:solidFill>
                            <a:srgbClr val="000000"/>
                          </a:solidFill>
                          <a:effectLst/>
                          <a:latin typeface="Calibri"/>
                          <a:ea typeface="+mn-ea"/>
                          <a:cs typeface="Calibri"/>
                        </a:rPr>
                        <a:t>20</a:t>
                      </a:r>
                      <a:r>
                        <a:rPr lang="it-IT" sz="1600" b="1" i="1" u="none" strike="noStrike" dirty="0">
                          <a:solidFill>
                            <a:srgbClr val="000000"/>
                          </a:solidFill>
                          <a:effectLst/>
                          <a:latin typeface="Calibri"/>
                          <a:cs typeface="Calibri"/>
                        </a:rPr>
                        <a:t> </a:t>
                      </a:r>
                      <a:r>
                        <a:rPr lang="en-GB" sz="1600" b="1" i="1" u="none" strike="noStrike" noProof="0" dirty="0">
                          <a:solidFill>
                            <a:srgbClr val="000000"/>
                          </a:solidFill>
                          <a:effectLst/>
                          <a:latin typeface="Calibri"/>
                          <a:cs typeface="Calibri"/>
                        </a:rPr>
                        <a:t>payable on Gino’s request</a:t>
                      </a:r>
                    </a:p>
                  </a:txBody>
                  <a:tcPr marL="12700" marR="12700" marT="1270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sp>
        <p:nvSpPr>
          <p:cNvPr id="3" name="Textfeld 2">
            <a:extLst>
              <a:ext uri="{FF2B5EF4-FFF2-40B4-BE49-F238E27FC236}">
                <a16:creationId xmlns:a16="http://schemas.microsoft.com/office/drawing/2014/main" id="{A75351C9-0504-4EFA-AF8D-F507F3D621D2}"/>
              </a:ext>
            </a:extLst>
          </p:cNvPr>
          <p:cNvSpPr txBox="1"/>
          <p:nvPr/>
        </p:nvSpPr>
        <p:spPr>
          <a:xfrm>
            <a:off x="791835" y="914569"/>
            <a:ext cx="10758934" cy="1200329"/>
          </a:xfrm>
          <a:prstGeom prst="rect">
            <a:avLst/>
          </a:prstGeom>
          <a:noFill/>
        </p:spPr>
        <p:txBody>
          <a:bodyPr wrap="square" rtlCol="0">
            <a:spAutoFit/>
          </a:bodyPr>
          <a:lstStyle/>
          <a:p>
            <a:pPr marL="342900" indent="-342900">
              <a:buFont typeface="Arial" panose="020B0604020202020204" pitchFamily="34" charset="0"/>
              <a:buChar char="•"/>
            </a:pPr>
            <a:r>
              <a:rPr lang="en-GB" sz="2400" dirty="0"/>
              <a:t>Gino has an account with bonus bank and receives a loan</a:t>
            </a:r>
          </a:p>
          <a:p>
            <a:pPr marL="342900" indent="-342900">
              <a:buFont typeface="Arial" panose="020B0604020202020204" pitchFamily="34" charset="0"/>
              <a:buChar char="•"/>
            </a:pPr>
            <a:r>
              <a:rPr lang="en-GB" sz="2400" u="sng" dirty="0"/>
              <a:t>Here</a:t>
            </a:r>
            <a:r>
              <a:rPr lang="en-GB" sz="2400" dirty="0"/>
              <a:t>: we are looking at the changes in the bank‘s balance sheet (similar for Gino‘s balance sheet)</a:t>
            </a:r>
          </a:p>
        </p:txBody>
      </p:sp>
      <p:sp>
        <p:nvSpPr>
          <p:cNvPr id="4" name="Pfeil: nach rechts 3">
            <a:extLst>
              <a:ext uri="{FF2B5EF4-FFF2-40B4-BE49-F238E27FC236}">
                <a16:creationId xmlns:a16="http://schemas.microsoft.com/office/drawing/2014/main" id="{D46AD2CD-9771-4446-91FE-DAA79376BA4C}"/>
              </a:ext>
            </a:extLst>
          </p:cNvPr>
          <p:cNvSpPr/>
          <p:nvPr/>
        </p:nvSpPr>
        <p:spPr>
          <a:xfrm>
            <a:off x="5695841" y="3496733"/>
            <a:ext cx="893047" cy="567267"/>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24464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565" y="165555"/>
            <a:ext cx="10515600" cy="671934"/>
          </a:xfrm>
        </p:spPr>
        <p:txBody>
          <a:bodyPr>
            <a:normAutofit fontScale="90000"/>
          </a:bodyPr>
          <a:lstStyle/>
          <a:p>
            <a:pPr algn="ctr"/>
            <a:r>
              <a:rPr lang="en-GB" sz="4800" dirty="0">
                <a:latin typeface="+mn-lt"/>
              </a:rPr>
              <a:t>Default risk and liquidity risk</a:t>
            </a:r>
          </a:p>
        </p:txBody>
      </p:sp>
      <p:sp>
        <p:nvSpPr>
          <p:cNvPr id="6" name="TextBox 5"/>
          <p:cNvSpPr txBox="1"/>
          <p:nvPr/>
        </p:nvSpPr>
        <p:spPr>
          <a:xfrm>
            <a:off x="514350" y="919153"/>
            <a:ext cx="11458575" cy="5693866"/>
          </a:xfrm>
          <a:prstGeom prst="rect">
            <a:avLst/>
          </a:prstGeom>
          <a:noFill/>
        </p:spPr>
        <p:txBody>
          <a:bodyPr wrap="square" rtlCol="0">
            <a:spAutoFit/>
          </a:bodyPr>
          <a:lstStyle/>
          <a:p>
            <a:pPr marL="457200" indent="-457200">
              <a:buFont typeface="Arial" panose="020B0604020202020204" pitchFamily="34" charset="0"/>
              <a:buChar char="•"/>
            </a:pPr>
            <a:r>
              <a:rPr lang="en-GB" sz="2600" dirty="0"/>
              <a:t>Banks are important for capitalist economies </a:t>
            </a:r>
          </a:p>
          <a:p>
            <a:r>
              <a:rPr lang="en-GB" sz="2600" dirty="0"/>
              <a:t>Banks provide the service of </a:t>
            </a:r>
            <a:r>
              <a:rPr lang="en-GB" sz="2600" u="sng" dirty="0"/>
              <a:t>maturity transformation:</a:t>
            </a:r>
            <a:endParaRPr lang="en-GB" sz="2600" dirty="0"/>
          </a:p>
          <a:p>
            <a:pPr marL="457200" indent="-457200">
              <a:buFont typeface="Arial" panose="020B0604020202020204" pitchFamily="34" charset="0"/>
              <a:buChar char="•"/>
            </a:pPr>
            <a:r>
              <a:rPr lang="en-GB" sz="2600" dirty="0"/>
              <a:t>Deposits can be withdrawn at any time</a:t>
            </a:r>
          </a:p>
          <a:p>
            <a:pPr marL="457200" indent="-457200">
              <a:buFont typeface="Arial" panose="020B0604020202020204" pitchFamily="34" charset="0"/>
              <a:buChar char="•"/>
            </a:pPr>
            <a:r>
              <a:rPr lang="en-GB" sz="2600" dirty="0"/>
              <a:t>But loans only need to be repaid after a specified time (e.g. mortgages)</a:t>
            </a:r>
          </a:p>
          <a:p>
            <a:r>
              <a:rPr lang="en-GB" sz="2600" dirty="0">
                <a:sym typeface="Wingdings" panose="05000000000000000000" pitchFamily="2" charset="2"/>
              </a:rPr>
              <a:t> Banks borrow short term and lend long term</a:t>
            </a:r>
            <a:endParaRPr lang="en-GB" sz="2600" dirty="0"/>
          </a:p>
          <a:p>
            <a:pPr>
              <a:buFont typeface="Arial" pitchFamily="34" charset="0"/>
              <a:buChar char="•"/>
            </a:pPr>
            <a:endParaRPr lang="en-GB" sz="2600" dirty="0"/>
          </a:p>
          <a:p>
            <a:r>
              <a:rPr lang="en-GB" sz="2600" dirty="0"/>
              <a:t>This is also </a:t>
            </a:r>
            <a:r>
              <a:rPr lang="en-GB" sz="2600" u="sng" dirty="0"/>
              <a:t>liquidity transformation</a:t>
            </a:r>
            <a:r>
              <a:rPr lang="en-GB" sz="2600" dirty="0"/>
              <a:t>: </a:t>
            </a:r>
          </a:p>
          <a:p>
            <a:pPr marL="457200" indent="-457200">
              <a:buFont typeface="Arial" panose="020B0604020202020204" pitchFamily="34" charset="0"/>
              <a:buChar char="•"/>
            </a:pPr>
            <a:r>
              <a:rPr lang="en-GB" sz="2600" dirty="0"/>
              <a:t>Deposits are liquid (can be turned into cash quickly)</a:t>
            </a:r>
          </a:p>
          <a:p>
            <a:pPr marL="457200" indent="-457200">
              <a:buFont typeface="Arial" panose="020B0604020202020204" pitchFamily="34" charset="0"/>
              <a:buChar char="•"/>
            </a:pPr>
            <a:r>
              <a:rPr lang="en-GB" sz="2600" dirty="0"/>
              <a:t>Loans to borrowers are frozen (illiquid)</a:t>
            </a:r>
          </a:p>
          <a:p>
            <a:pPr marL="914400" lvl="1" indent="-457200">
              <a:buFont typeface="Wingdings" panose="05000000000000000000" pitchFamily="2" charset="2"/>
              <a:buChar char="Ø"/>
            </a:pPr>
            <a:r>
              <a:rPr lang="en-GB" sz="2600" u="sng" dirty="0"/>
              <a:t>This exposes the bank to risks:</a:t>
            </a:r>
          </a:p>
          <a:p>
            <a:pPr marL="2800350" lvl="5" indent="-514350">
              <a:buFont typeface="+mj-lt"/>
              <a:buAutoNum type="arabicPeriod"/>
            </a:pPr>
            <a:r>
              <a:rPr lang="en-GB" sz="2600" b="1" dirty="0"/>
              <a:t>Default risk </a:t>
            </a:r>
            <a:r>
              <a:rPr lang="en-GB" sz="2600" dirty="0"/>
              <a:t>(loans might not be paid back)</a:t>
            </a:r>
          </a:p>
          <a:p>
            <a:pPr marL="2800350" lvl="5" indent="-514350">
              <a:buFont typeface="+mj-lt"/>
              <a:buAutoNum type="arabicPeriod"/>
            </a:pPr>
            <a:r>
              <a:rPr lang="en-GB" sz="2600" b="1" dirty="0"/>
              <a:t>Liquidity risk </a:t>
            </a:r>
            <a:r>
              <a:rPr lang="en-GB" sz="2600" dirty="0"/>
              <a:t>(assets might be tied up long term which could become an issue short term if more people want to withdraw funds in a short period of time)</a:t>
            </a:r>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4"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513802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565" y="165554"/>
            <a:ext cx="10515600" cy="720271"/>
          </a:xfrm>
        </p:spPr>
        <p:txBody>
          <a:bodyPr>
            <a:normAutofit fontScale="90000"/>
          </a:bodyPr>
          <a:lstStyle/>
          <a:p>
            <a:pPr algn="ctr"/>
            <a:r>
              <a:rPr lang="en-GB" sz="4800" dirty="0">
                <a:latin typeface="+mn-lt"/>
              </a:rPr>
              <a:t>The money market</a:t>
            </a:r>
          </a:p>
        </p:txBody>
      </p:sp>
      <p:sp>
        <p:nvSpPr>
          <p:cNvPr id="6" name="TextBox 5"/>
          <p:cNvSpPr txBox="1"/>
          <p:nvPr/>
        </p:nvSpPr>
        <p:spPr>
          <a:xfrm>
            <a:off x="644535" y="890333"/>
            <a:ext cx="11198962" cy="5386090"/>
          </a:xfrm>
          <a:prstGeom prst="rect">
            <a:avLst/>
          </a:prstGeom>
          <a:noFill/>
        </p:spPr>
        <p:txBody>
          <a:bodyPr wrap="square" rtlCol="0">
            <a:spAutoFit/>
          </a:bodyPr>
          <a:lstStyle/>
          <a:p>
            <a:pPr marL="457200" indent="-457200">
              <a:buFont typeface="Arial" panose="020B0604020202020204" pitchFamily="34" charset="0"/>
              <a:buChar char="•"/>
            </a:pPr>
            <a:r>
              <a:rPr lang="en-GB" sz="3200" dirty="0"/>
              <a:t>Banks need enough base money to cover their net transactions. </a:t>
            </a:r>
          </a:p>
          <a:p>
            <a:pPr marL="914400" lvl="1" indent="-457200">
              <a:buFont typeface="Arial" panose="020B0604020202020204" pitchFamily="34" charset="0"/>
              <a:buChar char="•"/>
            </a:pPr>
            <a:r>
              <a:rPr lang="en-GB" sz="3200" dirty="0"/>
              <a:t>They borrow money on the </a:t>
            </a:r>
            <a:r>
              <a:rPr lang="en-GB" sz="3200" b="1" dirty="0"/>
              <a:t>money market </a:t>
            </a:r>
            <a:r>
              <a:rPr lang="en-GB" sz="3200" dirty="0"/>
              <a:t>(often from other banks)</a:t>
            </a:r>
            <a:r>
              <a:rPr lang="en-GB" sz="3200" b="1" dirty="0"/>
              <a:t> </a:t>
            </a:r>
            <a:r>
              <a:rPr lang="en-GB" sz="3200" dirty="0"/>
              <a:t>at the </a:t>
            </a:r>
            <a:r>
              <a:rPr lang="en-GB" sz="3200" i="1" dirty="0"/>
              <a:t>short-term </a:t>
            </a:r>
            <a:r>
              <a:rPr lang="en-GB" sz="3200" dirty="0"/>
              <a:t>interest rate (less than a year) </a:t>
            </a:r>
            <a:r>
              <a:rPr lang="en-GB" sz="3200" dirty="0">
                <a:sym typeface="Wingdings" panose="05000000000000000000" pitchFamily="2" charset="2"/>
              </a:rPr>
              <a:t> ensure banks’ liquidity</a:t>
            </a:r>
            <a:endParaRPr lang="en-GB" sz="3200" dirty="0"/>
          </a:p>
          <a:p>
            <a:pPr lvl="1"/>
            <a:endParaRPr lang="en-GB" sz="3200" dirty="0"/>
          </a:p>
          <a:p>
            <a:r>
              <a:rPr lang="en-GB" sz="3200" b="1" u="sng" dirty="0"/>
              <a:t>Short term interest rate determined by:</a:t>
            </a:r>
          </a:p>
          <a:p>
            <a:pPr marL="457200" indent="-457200">
              <a:buFont typeface="Arial" panose="020B0604020202020204" pitchFamily="34" charset="0"/>
              <a:buChar char="•"/>
            </a:pPr>
            <a:r>
              <a:rPr lang="en-GB" sz="3200" dirty="0"/>
              <a:t>The </a:t>
            </a:r>
            <a:r>
              <a:rPr lang="en-GB" sz="3200" i="1" dirty="0"/>
              <a:t>demand for money</a:t>
            </a:r>
          </a:p>
          <a:p>
            <a:pPr marL="914400" lvl="1" indent="-457200">
              <a:buFont typeface="Arial" panose="020B0604020202020204" pitchFamily="34" charset="0"/>
              <a:buChar char="•"/>
            </a:pPr>
            <a:r>
              <a:rPr lang="en-GB" sz="2800" dirty="0"/>
              <a:t>Depends on how many transactions commercial banks have to make. </a:t>
            </a:r>
          </a:p>
          <a:p>
            <a:pPr marL="457200" indent="-457200">
              <a:buFont typeface="Arial" panose="020B0604020202020204" pitchFamily="34" charset="0"/>
              <a:buChar char="•"/>
            </a:pPr>
            <a:r>
              <a:rPr lang="en-GB" sz="3200" dirty="0"/>
              <a:t>The </a:t>
            </a:r>
            <a:r>
              <a:rPr lang="en-GB" sz="3200" i="1" dirty="0"/>
              <a:t>supply of base money </a:t>
            </a:r>
            <a:endParaRPr lang="en-GB" sz="3200" dirty="0"/>
          </a:p>
          <a:p>
            <a:pPr marL="914400" lvl="1" indent="-457200">
              <a:buFont typeface="Arial" panose="020B0604020202020204" pitchFamily="34" charset="0"/>
              <a:buChar char="•"/>
            </a:pPr>
            <a:r>
              <a:rPr lang="en-GB" sz="2800" dirty="0"/>
              <a:t>Decision by the central bank</a:t>
            </a:r>
          </a:p>
          <a:p>
            <a:endParaRPr lang="en-GB" sz="3200" dirty="0"/>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2"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51204"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p:cNvSpPr/>
          <p:nvPr/>
        </p:nvSpPr>
        <p:spPr>
          <a:xfrm>
            <a:off x="5886829" y="4879495"/>
            <a:ext cx="5819183" cy="83099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1600" b="1" dirty="0"/>
              <a:t>Reminder Base money: </a:t>
            </a:r>
            <a:r>
              <a:rPr lang="en-GB" sz="1600" dirty="0"/>
              <a:t>Cash held by households, firms, and banks, and the balances held by commercial banks in their accounts at the central bank, known as reserves. </a:t>
            </a:r>
            <a:r>
              <a:rPr lang="en-GB" sz="1600" dirty="0">
                <a:sym typeface="Wingdings" panose="05000000000000000000" pitchFamily="2" charset="2"/>
              </a:rPr>
              <a:t> CB money</a:t>
            </a:r>
            <a:endParaRPr lang="en-GB" sz="1600" dirty="0"/>
          </a:p>
        </p:txBody>
      </p:sp>
    </p:spTree>
    <p:extLst>
      <p:ext uri="{BB962C8B-B14F-4D97-AF65-F5344CB8AC3E}">
        <p14:creationId xmlns:p14="http://schemas.microsoft.com/office/powerpoint/2010/main" val="3805685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16629" y="2299369"/>
            <a:ext cx="7302137" cy="1763179"/>
          </a:xfrm>
        </p:spPr>
        <p:txBody>
          <a:bodyPr>
            <a:noAutofit/>
          </a:bodyPr>
          <a:lstStyle/>
          <a:p>
            <a:pPr algn="ctr"/>
            <a:r>
              <a:rPr lang="en-GB" dirty="0">
                <a:latin typeface="+mn-lt"/>
              </a:rPr>
              <a:t>Credit rationing</a:t>
            </a:r>
          </a:p>
        </p:txBody>
      </p:sp>
    </p:spTree>
    <p:extLst>
      <p:ext uri="{BB962C8B-B14F-4D97-AF65-F5344CB8AC3E}">
        <p14:creationId xmlns:p14="http://schemas.microsoft.com/office/powerpoint/2010/main" val="1042263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693" y="108751"/>
            <a:ext cx="10515600" cy="935641"/>
          </a:xfrm>
        </p:spPr>
        <p:txBody>
          <a:bodyPr>
            <a:normAutofit/>
          </a:bodyPr>
          <a:lstStyle/>
          <a:p>
            <a:pPr algn="ctr"/>
            <a:r>
              <a:rPr lang="en-GB" sz="4800" dirty="0">
                <a:latin typeface="+mn-lt"/>
              </a:rPr>
              <a:t>Principal-agent problem in credit markets</a:t>
            </a:r>
          </a:p>
        </p:txBody>
      </p:sp>
      <p:sp>
        <p:nvSpPr>
          <p:cNvPr id="6" name="TextBox 5"/>
          <p:cNvSpPr txBox="1"/>
          <p:nvPr/>
        </p:nvSpPr>
        <p:spPr>
          <a:xfrm>
            <a:off x="823693" y="1166947"/>
            <a:ext cx="10453907" cy="5016758"/>
          </a:xfrm>
          <a:prstGeom prst="rect">
            <a:avLst/>
          </a:prstGeom>
          <a:noFill/>
        </p:spPr>
        <p:txBody>
          <a:bodyPr wrap="square" rtlCol="0">
            <a:spAutoFit/>
          </a:bodyPr>
          <a:lstStyle/>
          <a:p>
            <a:r>
              <a:rPr lang="en-US" sz="3200" b="1" dirty="0"/>
              <a:t>Principal-agent problem: </a:t>
            </a:r>
            <a:r>
              <a:rPr lang="en-US" sz="3200" dirty="0"/>
              <a:t>conflict of interest between principal (e.g. bank) and agent (e.g. household or firm), about some hidden action or attribute of the agent that cannot be enforced or guaranteed in a binding contract.</a:t>
            </a:r>
          </a:p>
          <a:p>
            <a:pPr marL="457200" indent="-457200">
              <a:buFont typeface="Arial" panose="020B0604020202020204" pitchFamily="34" charset="0"/>
              <a:buChar char="•"/>
            </a:pPr>
            <a:r>
              <a:rPr lang="en-US" sz="3200" dirty="0"/>
              <a:t>E.g. </a:t>
            </a:r>
            <a:r>
              <a:rPr lang="en-US" sz="3200" u="sng" dirty="0"/>
              <a:t>Financing a project</a:t>
            </a:r>
          </a:p>
          <a:p>
            <a:pPr marL="914400" lvl="1" indent="-457200">
              <a:buFont typeface="Wingdings" panose="05000000000000000000" pitchFamily="2" charset="2"/>
              <a:buChar char="Ø"/>
            </a:pPr>
            <a:r>
              <a:rPr lang="en-US" sz="3200" dirty="0"/>
              <a:t>Lenders face the risk that money borrowed will not be repaid</a:t>
            </a:r>
          </a:p>
          <a:p>
            <a:pPr marL="914400" lvl="1" indent="-457200">
              <a:buFont typeface="Wingdings" panose="05000000000000000000" pitchFamily="2" charset="2"/>
              <a:buChar char="Ø"/>
            </a:pPr>
            <a:r>
              <a:rPr lang="en-US" sz="3200" dirty="0"/>
              <a:t>Lack information about the project’s success or borrower’s effort so cannot ensure that the project succeeds</a:t>
            </a:r>
          </a:p>
        </p:txBody>
      </p:sp>
    </p:spTree>
    <p:extLst>
      <p:ext uri="{BB962C8B-B14F-4D97-AF65-F5344CB8AC3E}">
        <p14:creationId xmlns:p14="http://schemas.microsoft.com/office/powerpoint/2010/main" val="127137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549" y="97278"/>
            <a:ext cx="10515600" cy="935641"/>
          </a:xfrm>
        </p:spPr>
        <p:txBody>
          <a:bodyPr>
            <a:normAutofit/>
          </a:bodyPr>
          <a:lstStyle/>
          <a:p>
            <a:pPr algn="ctr"/>
            <a:r>
              <a:rPr lang="en-GB" sz="4800" dirty="0">
                <a:latin typeface="+mn-lt"/>
              </a:rPr>
              <a:t>Equity and collateral</a:t>
            </a:r>
          </a:p>
        </p:txBody>
      </p:sp>
      <p:sp>
        <p:nvSpPr>
          <p:cNvPr id="4" name="TextBox 3"/>
          <p:cNvSpPr txBox="1"/>
          <p:nvPr/>
        </p:nvSpPr>
        <p:spPr>
          <a:xfrm>
            <a:off x="571324" y="1032919"/>
            <a:ext cx="11049352" cy="5509200"/>
          </a:xfrm>
          <a:prstGeom prst="rect">
            <a:avLst/>
          </a:prstGeom>
          <a:noFill/>
        </p:spPr>
        <p:txBody>
          <a:bodyPr wrap="square" rtlCol="0">
            <a:spAutoFit/>
          </a:bodyPr>
          <a:lstStyle/>
          <a:p>
            <a:pPr algn="ctr"/>
            <a:r>
              <a:rPr lang="en-GB" sz="3200" dirty="0"/>
              <a:t>We know there is a default risk attached to each loan. How can uncertainty of whether default is likely or not be reduced? </a:t>
            </a:r>
          </a:p>
          <a:p>
            <a:pPr algn="ctr"/>
            <a:endParaRPr lang="en-GB" sz="3200" dirty="0"/>
          </a:p>
          <a:p>
            <a:r>
              <a:rPr lang="en-GB" sz="3200" b="1" u="sng" dirty="0"/>
              <a:t>Two possibilities (among other evaluation instruments):</a:t>
            </a:r>
          </a:p>
          <a:p>
            <a:pPr marL="457200" indent="-457200">
              <a:buFont typeface="Arial" panose="020B0604020202020204" pitchFamily="34" charset="0"/>
              <a:buChar char="•"/>
            </a:pPr>
            <a:r>
              <a:rPr lang="en-GB" sz="3200" b="1" dirty="0"/>
              <a:t>Equity</a:t>
            </a:r>
            <a:r>
              <a:rPr lang="en-GB" sz="3200" dirty="0"/>
              <a:t>: the lender may require the borrower to put some of her wealth into the project</a:t>
            </a:r>
          </a:p>
          <a:p>
            <a:pPr marL="457200" indent="-457200">
              <a:buFont typeface="Arial" panose="020B0604020202020204" pitchFamily="34" charset="0"/>
              <a:buChar char="•"/>
            </a:pPr>
            <a:r>
              <a:rPr lang="en-GB" sz="3200" b="1" dirty="0"/>
              <a:t>Collateral</a:t>
            </a:r>
            <a:r>
              <a:rPr lang="en-GB" sz="3200" dirty="0"/>
              <a:t>: the borrower has to set aside property that will be transferred to the lender if the loan is not repaid (e.g. mortgages – house as collateral)</a:t>
            </a:r>
          </a:p>
          <a:p>
            <a:pPr marL="457200" indent="-457200">
              <a:buFont typeface="Wingdings" panose="05000000000000000000" pitchFamily="2" charset="2"/>
              <a:buChar char="à"/>
            </a:pPr>
            <a:r>
              <a:rPr lang="en-GB" sz="3200" dirty="0">
                <a:solidFill>
                  <a:srgbClr val="FF0000"/>
                </a:solidFill>
                <a:sym typeface="Wingdings" panose="05000000000000000000" pitchFamily="2" charset="2"/>
              </a:rPr>
              <a:t>Implications for borrowers with no collateral? </a:t>
            </a:r>
          </a:p>
          <a:p>
            <a:pPr marL="457200" indent="-457200">
              <a:buFont typeface="Wingdings" panose="05000000000000000000" pitchFamily="2" charset="2"/>
              <a:buChar char="à"/>
            </a:pPr>
            <a:r>
              <a:rPr lang="en-GB" sz="3200" dirty="0">
                <a:solidFill>
                  <a:srgbClr val="FF0000"/>
                </a:solidFill>
                <a:sym typeface="Wingdings" panose="05000000000000000000" pitchFamily="2" charset="2"/>
              </a:rPr>
              <a:t>Implications during crisis episodes?</a:t>
            </a:r>
            <a:endParaRPr lang="en-US" sz="3200" dirty="0">
              <a:solidFill>
                <a:srgbClr val="FF0000"/>
              </a:solidFill>
            </a:endParaRPr>
          </a:p>
        </p:txBody>
      </p:sp>
    </p:spTree>
    <p:extLst>
      <p:ext uri="{BB962C8B-B14F-4D97-AF65-F5344CB8AC3E}">
        <p14:creationId xmlns:p14="http://schemas.microsoft.com/office/powerpoint/2010/main" val="2976417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dirty="0">
                <a:latin typeface="+mn-lt"/>
              </a:rPr>
              <a:t>Credit rationing</a:t>
            </a:r>
          </a:p>
        </p:txBody>
      </p:sp>
      <p:sp>
        <p:nvSpPr>
          <p:cNvPr id="4" name="TextBox 3"/>
          <p:cNvSpPr txBox="1"/>
          <p:nvPr/>
        </p:nvSpPr>
        <p:spPr>
          <a:xfrm>
            <a:off x="866422" y="1659285"/>
            <a:ext cx="10583732" cy="3539430"/>
          </a:xfrm>
          <a:prstGeom prst="rect">
            <a:avLst/>
          </a:prstGeom>
          <a:noFill/>
        </p:spPr>
        <p:txBody>
          <a:bodyPr wrap="square" rtlCol="0">
            <a:spAutoFit/>
          </a:bodyPr>
          <a:lstStyle/>
          <a:p>
            <a:r>
              <a:rPr lang="en-GB" sz="3200" dirty="0"/>
              <a:t>Those with less wealth find it more difficult to provide equity or collateral. </a:t>
            </a:r>
          </a:p>
          <a:p>
            <a:endParaRPr lang="en-GB" sz="3200" dirty="0"/>
          </a:p>
          <a:p>
            <a:r>
              <a:rPr lang="en-GB" sz="3200" b="1" dirty="0"/>
              <a:t>Credit rationing: </a:t>
            </a:r>
            <a:r>
              <a:rPr lang="en-GB" sz="3200" dirty="0"/>
              <a:t>when those with less wealth</a:t>
            </a:r>
          </a:p>
          <a:p>
            <a:pPr marL="457200" indent="-457200">
              <a:buFont typeface="Arial" panose="020B0604020202020204" pitchFamily="34" charset="0"/>
              <a:buChar char="•"/>
            </a:pPr>
            <a:r>
              <a:rPr lang="en-GB" sz="3200" dirty="0"/>
              <a:t>Borrow on unfavourable terms compared with those with more wealth (</a:t>
            </a:r>
            <a:r>
              <a:rPr lang="en-GB" sz="3200" b="1" dirty="0"/>
              <a:t>credit-constrained – predatory lending</a:t>
            </a:r>
            <a:r>
              <a:rPr lang="en-GB" sz="3200" dirty="0"/>
              <a:t>)</a:t>
            </a:r>
          </a:p>
          <a:p>
            <a:pPr marL="457200" indent="-457200">
              <a:buFont typeface="Arial" panose="020B0604020202020204" pitchFamily="34" charset="0"/>
              <a:buChar char="•"/>
            </a:pPr>
            <a:r>
              <a:rPr lang="en-GB" sz="3200" dirty="0"/>
              <a:t>Or are refused loans entirely (</a:t>
            </a:r>
            <a:r>
              <a:rPr lang="en-GB" sz="3200" b="1" dirty="0"/>
              <a:t>credit-excluded - redlining</a:t>
            </a:r>
            <a:r>
              <a:rPr lang="en-GB" sz="3200" dirty="0"/>
              <a:t>)</a:t>
            </a:r>
            <a:endParaRPr lang="en-US" sz="3200" dirty="0"/>
          </a:p>
        </p:txBody>
      </p:sp>
    </p:spTree>
    <p:extLst>
      <p:ext uri="{BB962C8B-B14F-4D97-AF65-F5344CB8AC3E}">
        <p14:creationId xmlns:p14="http://schemas.microsoft.com/office/powerpoint/2010/main" val="814436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770625" y="554772"/>
            <a:ext cx="2650750" cy="669902"/>
          </a:xfrm>
        </p:spPr>
        <p:txBody>
          <a:bodyPr>
            <a:noAutofit/>
          </a:bodyPr>
          <a:lstStyle/>
          <a:p>
            <a:r>
              <a:rPr lang="en-GB" sz="4800" dirty="0">
                <a:latin typeface="+mn-lt"/>
              </a:rPr>
              <a:t>Summary</a:t>
            </a:r>
          </a:p>
        </p:txBody>
      </p:sp>
      <p:sp>
        <p:nvSpPr>
          <p:cNvPr id="2" name="TextBox 1"/>
          <p:cNvSpPr txBox="1"/>
          <p:nvPr/>
        </p:nvSpPr>
        <p:spPr>
          <a:xfrm>
            <a:off x="1201393" y="1224674"/>
            <a:ext cx="9636814" cy="6001643"/>
          </a:xfrm>
          <a:prstGeom prst="rect">
            <a:avLst/>
          </a:prstGeom>
          <a:noFill/>
        </p:spPr>
        <p:txBody>
          <a:bodyPr wrap="square" rtlCol="0">
            <a:spAutoFit/>
          </a:bodyPr>
          <a:lstStyle/>
          <a:p>
            <a:r>
              <a:rPr lang="en-US" sz="3200" dirty="0"/>
              <a:t>1. Outline of the banking system</a:t>
            </a:r>
          </a:p>
          <a:p>
            <a:pPr marL="457200" indent="-457200">
              <a:buFont typeface="Arial"/>
              <a:buChar char="•"/>
            </a:pPr>
            <a:r>
              <a:rPr lang="en-US" sz="3200" dirty="0"/>
              <a:t>Banks create money (lend) to make profits</a:t>
            </a:r>
          </a:p>
          <a:p>
            <a:pPr marL="457200" indent="-457200">
              <a:buFont typeface="Arial"/>
              <a:buChar char="•"/>
            </a:pPr>
            <a:r>
              <a:rPr lang="en-US" sz="3200" dirty="0"/>
              <a:t>Issues: principal-agent problem, </a:t>
            </a:r>
            <a:r>
              <a:rPr lang="en-US" sz="3200" b="1" dirty="0"/>
              <a:t>credit constraints or credit exclusions</a:t>
            </a:r>
          </a:p>
          <a:p>
            <a:r>
              <a:rPr lang="en-US" sz="3200" b="1" dirty="0"/>
              <a:t> </a:t>
            </a:r>
            <a:endParaRPr lang="en-US" sz="3200" dirty="0"/>
          </a:p>
          <a:p>
            <a:r>
              <a:rPr lang="en-US" sz="3200" dirty="0"/>
              <a:t>2. What is money?</a:t>
            </a:r>
          </a:p>
          <a:p>
            <a:pPr marL="457200" indent="-457200">
              <a:buFont typeface="Arial" panose="020B0604020202020204" pitchFamily="34" charset="0"/>
              <a:buChar char="•"/>
            </a:pPr>
            <a:r>
              <a:rPr lang="en-US" sz="3200" dirty="0"/>
              <a:t>In fiat currency systems: IOU</a:t>
            </a:r>
          </a:p>
          <a:p>
            <a:pPr marL="457200" indent="-457200">
              <a:buFont typeface="Arial" panose="020B0604020202020204" pitchFamily="34" charset="0"/>
              <a:buChar char="•"/>
            </a:pPr>
            <a:r>
              <a:rPr lang="en-US" sz="3200" dirty="0"/>
              <a:t>Functions of money have to be fulfilled</a:t>
            </a:r>
          </a:p>
          <a:p>
            <a:pPr marL="457200" indent="-457200">
              <a:buFont typeface="Arial" panose="020B0604020202020204" pitchFamily="34" charset="0"/>
              <a:buChar char="•"/>
            </a:pPr>
            <a:r>
              <a:rPr lang="en-US" sz="3200" dirty="0"/>
              <a:t>Types of money (risky and risk-free; physical and digital)</a:t>
            </a:r>
          </a:p>
          <a:p>
            <a:endParaRPr lang="en-US" sz="3200" dirty="0"/>
          </a:p>
          <a:p>
            <a:endParaRPr lang="en-US" sz="3200" dirty="0"/>
          </a:p>
        </p:txBody>
      </p:sp>
    </p:spTree>
    <p:extLst>
      <p:ext uri="{BB962C8B-B14F-4D97-AF65-F5344CB8AC3E}">
        <p14:creationId xmlns:p14="http://schemas.microsoft.com/office/powerpoint/2010/main" val="4162583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78337" y="479450"/>
            <a:ext cx="4064419" cy="801296"/>
          </a:xfrm>
        </p:spPr>
        <p:txBody>
          <a:bodyPr>
            <a:noAutofit/>
          </a:bodyPr>
          <a:lstStyle/>
          <a:p>
            <a:r>
              <a:rPr lang="en-GB" sz="4800" dirty="0">
                <a:latin typeface="+mn-lt"/>
              </a:rPr>
              <a:t>Next week</a:t>
            </a:r>
          </a:p>
        </p:txBody>
      </p:sp>
      <p:sp>
        <p:nvSpPr>
          <p:cNvPr id="2" name="TextBox 1"/>
          <p:cNvSpPr txBox="1"/>
          <p:nvPr/>
        </p:nvSpPr>
        <p:spPr>
          <a:xfrm>
            <a:off x="1047980" y="1589731"/>
            <a:ext cx="10096040" cy="4031873"/>
          </a:xfrm>
          <a:prstGeom prst="rect">
            <a:avLst/>
          </a:prstGeom>
          <a:noFill/>
        </p:spPr>
        <p:txBody>
          <a:bodyPr wrap="square" rtlCol="0">
            <a:spAutoFit/>
          </a:bodyPr>
          <a:lstStyle/>
          <a:p>
            <a:pPr marL="457200" indent="-457200">
              <a:buFont typeface="Arial"/>
              <a:buChar char="•"/>
            </a:pPr>
            <a:r>
              <a:rPr lang="en-US" sz="3200" dirty="0"/>
              <a:t>Aggregate measures of the economy</a:t>
            </a:r>
          </a:p>
          <a:p>
            <a:pPr marL="914400" lvl="1" indent="-457200">
              <a:buFont typeface="Arial"/>
              <a:buChar char="•"/>
            </a:pPr>
            <a:r>
              <a:rPr lang="en-US" sz="3200" dirty="0"/>
              <a:t>GDP and inflation </a:t>
            </a:r>
          </a:p>
          <a:p>
            <a:pPr marL="457200" indent="-457200">
              <a:buFont typeface="Arial"/>
              <a:buChar char="•"/>
            </a:pPr>
            <a:r>
              <a:rPr lang="en-US" sz="3200" dirty="0"/>
              <a:t>Business cycle, growth and fluctuations</a:t>
            </a:r>
          </a:p>
          <a:p>
            <a:pPr marL="914400" lvl="1" indent="-457200">
              <a:buFont typeface="Arial"/>
              <a:buChar char="•"/>
            </a:pPr>
            <a:r>
              <a:rPr lang="en-US" sz="3200" dirty="0"/>
              <a:t>How households deal with fluctuations in income and employment (consumption smoothing)</a:t>
            </a:r>
          </a:p>
          <a:p>
            <a:pPr marL="914400" lvl="1" indent="-457200">
              <a:buFont typeface="Arial"/>
              <a:buChar char="•"/>
            </a:pPr>
            <a:r>
              <a:rPr lang="en-US" sz="3200" dirty="0"/>
              <a:t>The effect of firms and investment decisions on the business cycle </a:t>
            </a:r>
          </a:p>
          <a:p>
            <a:pPr lvl="1"/>
            <a:endParaRPr lang="en-US" sz="3200" dirty="0"/>
          </a:p>
        </p:txBody>
      </p:sp>
    </p:spTree>
    <p:extLst>
      <p:ext uri="{BB962C8B-B14F-4D97-AF65-F5344CB8AC3E}">
        <p14:creationId xmlns:p14="http://schemas.microsoft.com/office/powerpoint/2010/main" val="40177698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8&quot; unique_id=&quot;10017&quot;&gt;&lt;/object&gt;&lt;object type=&quot;2&quot; unique_id=&quot;10018&quot;&gt;&lt;object type=&quot;3&quot; unique_id=&quot;10025&quot;&gt;&lt;property id=&quot;20148&quot; value=&quot;5&quot;/&gt;&lt;property id=&quot;20300&quot; value=&quot;Slide 1 - &amp;quot;Unit 6&amp;quot;&quot;/&gt;&lt;property id=&quot;20307&quot; value=&quot;256&quot;/&gt;&lt;/object&gt;&lt;object type=&quot;3&quot; unique_id=&quot;10026&quot;&gt;&lt;property id=&quot;20148&quot; value=&quot;5&quot;/&gt;&lt;property id=&quot;20300&quot; value=&quot;Slide 3 - &amp;quot;The Unit in Context&amp;quot;&quot;/&gt;&lt;property id=&quot;20307&quot; value=&quot;257&quot;/&gt;&lt;/object&gt;&lt;object type=&quot;3&quot; unique_id=&quot;10055&quot;&gt;&lt;property id=&quot;20148&quot; value=&quot;5&quot;/&gt;&lt;property id=&quot;20300&quot; value=&quot;Slide 4 - &amp;quot;This Unit &amp;quot;&quot;/&gt;&lt;property id=&quot;20307&quot; value=&quot;258&quot;/&gt;&lt;/object&gt;&lt;object type=&quot;3&quot; unique_id=&quot;10151&quot;&gt;&lt;property id=&quot;20148&quot; value=&quot;5&quot;/&gt;&lt;property id=&quot;20300&quot; value=&quot;Slide 6 - &amp;quot;Firms and Wage Contracts&amp;quot;&quot;/&gt;&lt;property id=&quot;20307&quot; value=&quot;259&quot;/&gt;&lt;/object&gt;&lt;object type=&quot;3&quot; unique_id=&quot;10218&quot;&gt;&lt;property id=&quot;20148&quot; value=&quot;5&quot;/&gt;&lt;property id=&quot;20300&quot; value=&quot;Slide 7 - &amp;quot;Firms and Wage Contracts&amp;quot;&quot;/&gt;&lt;property id=&quot;20307&quot; value=&quot;260&quot;/&gt;&lt;/object&gt;&lt;object type=&quot;3&quot; unique_id=&quot;19938&quot;&gt;&lt;property id=&quot;20148&quot; value=&quot;5&quot;/&gt;&lt;property id=&quot;20300&quot; value=&quot;Slide 8&quot;/&gt;&lt;property id=&quot;20307&quot; value=&quot;261&quot;/&gt;&lt;/object&gt;&lt;object type=&quot;3&quot; unique_id=&quot;20019&quot;&gt;&lt;property id=&quot;20148&quot; value=&quot;5&quot;/&gt;&lt;property id=&quot;20300&quot; value=&quot;Slide 2 - &amp;quot;A. Introduction&amp;quot;&quot;/&gt;&lt;property id=&quot;20307&quot; value=&quot;262&quot;/&gt;&lt;/object&gt;&lt;object type=&quot;3&quot; unique_id=&quot;20065&quot;&gt;&lt;property id=&quot;20148&quot; value=&quot;5&quot;/&gt;&lt;property id=&quot;20300&quot; value=&quot;Slide 5 - &amp;quot;B. Labour Contracts and Employment Rents&amp;quot;&quot;/&gt;&lt;property id=&quot;20307&quot; value=&quot;263&quot;/&gt;&lt;/object&gt;&lt;object type=&quot;3&quot; unique_id=&quot;20066&quot;&gt;&lt;property id=&quot;20148&quot; value=&quot;5&quot;/&gt;&lt;property id=&quot;20300&quot; value=&quot;Slide 9 - &amp;quot;C. Labour Discipline Model&amp;quot;&quot;/&gt;&lt;property id=&quot;20307&quot; value=&quot;264&quot;/&gt;&lt;/object&gt;&lt;object type=&quot;3&quot; unique_id=&quot;20144&quot;&gt;&lt;property id=&quot;20148&quot; value=&quot;5&quot;/&gt;&lt;property id=&quot;20300&quot; value=&quot;Slide 14 - &amp;quot;D. The Wage Curve&amp;quot;&quot;/&gt;&lt;property id=&quot;20307&quot; value=&quot;265&quot;/&gt;&lt;/object&gt;&lt;object type=&quot;3&quot; unique_id=&quot;20145&quot;&gt;&lt;property id=&quot;20148&quot; value=&quot;5&quot;/&gt;&lt;property id=&quot;20300&quot; value=&quot;Slide 18 - &amp;quot;E. Fairness and Reciprocity&amp;quot;&quot;/&gt;&lt;property id=&quot;20307&quot; value=&quot;266&quot;/&gt;&lt;/object&gt;&lt;object type=&quot;3&quot; unique_id=&quot;20185&quot;&gt;&lt;property id=&quot;20148&quot; value=&quot;5&quot;/&gt;&lt;property id=&quot;20300&quot; value=&quot;Slide 19 - &amp;quot;G. Looking Forward&amp;quot;&quot;/&gt;&lt;property id=&quot;20307&quot; value=&quot;267&quot;/&gt;&lt;/object&gt;&lt;object type=&quot;3&quot; unique_id=&quot;20228&quot;&gt;&lt;property id=&quot;20148&quot; value=&quot;5&quot;/&gt;&lt;property id=&quot;20300&quot; value=&quot;Slide 20 - &amp;quot;Firms and their Customers&amp;quot;&quot;/&gt;&lt;property id=&quot;20307&quot; value=&quot;268&quot;/&gt;&lt;/object&gt;&lt;object type=&quot;3&quot; unique_id=&quot;20567&quot;&gt;&lt;property id=&quot;20148&quot; value=&quot;5&quot;/&gt;&lt;property id=&quot;20300&quot; value=&quot;Slide 10&quot;/&gt;&lt;property id=&quot;20307&quot; value=&quot;269&quot;/&gt;&lt;/object&gt;&lt;object type=&quot;3&quot; unique_id=&quot;20696&quot;&gt;&lt;property id=&quot;20148&quot; value=&quot;5&quot;/&gt;&lt;property id=&quot;20300&quot; value=&quot;Slide 12&quot;/&gt;&lt;property id=&quot;20307&quot; value=&quot;270&quot;/&gt;&lt;/object&gt;&lt;object type=&quot;3&quot; unique_id=&quot;20782&quot;&gt;&lt;property id=&quot;20148&quot; value=&quot;5&quot;/&gt;&lt;property id=&quot;20300&quot; value=&quot;Slide 13&quot;/&gt;&lt;property id=&quot;20307&quot; value=&quot;271&quot;/&gt;&lt;/object&gt;&lt;object type=&quot;3&quot; unique_id=&quot;20963&quot;&gt;&lt;property id=&quot;20148&quot; value=&quot;5&quot;/&gt;&lt;property id=&quot;20300&quot; value=&quot;Slide 11&quot;/&gt;&lt;property id=&quot;20307&quot; value=&quot;272&quot;/&gt;&lt;/object&gt;&lt;object type=&quot;3&quot; unique_id=&quot;21116&quot;&gt;&lt;property id=&quot;20148&quot; value=&quot;5&quot;/&gt;&lt;property id=&quot;20300&quot; value=&quot;Slide 16&quot;/&gt;&lt;property id=&quot;20307&quot; value=&quot;273&quot;/&gt;&lt;/object&gt;&lt;object type=&quot;3&quot; unique_id=&quot;21217&quot;&gt;&lt;property id=&quot;20148&quot; value=&quot;5&quot;/&gt;&lt;property id=&quot;20300&quot; value=&quot;Slide 15&quot;/&gt;&lt;property id=&quot;20307&quot; value=&quot;274&quot;/&gt;&lt;/object&gt;&lt;object type=&quot;3&quot; unique_id=&quot;21428&quot;&gt;&lt;property id=&quot;20148&quot; value=&quot;5&quot;/&gt;&lt;property id=&quot;20300&quot; value=&quot;Slide 17&quot;/&gt;&lt;property id=&quot;20307&quot; value=&quot;275&quot;/&gt;&lt;/object&gt;&lt;/object&gt;&lt;/object&gt;&lt;/database&gt;"/>
  <p:tag name="SECTOMILLISECCONVERTED" val="1"/>
</p:tagLst>
</file>

<file path=ppt/theme/theme1.xml><?xml version="1.0" encoding="utf-8"?>
<a:theme xmlns:a="http://schemas.openxmlformats.org/drawingml/2006/main" name="Office Theme">
  <a:themeElements>
    <a:clrScheme name="Custom 3">
      <a:dk1>
        <a:sysClr val="windowText" lastClr="000000"/>
      </a:dk1>
      <a:lt1>
        <a:sysClr val="window" lastClr="FFFFFF"/>
      </a:lt1>
      <a:dk2>
        <a:srgbClr val="44546A"/>
      </a:dk2>
      <a:lt2>
        <a:srgbClr val="E7E6E6"/>
      </a:lt2>
      <a:accent1>
        <a:srgbClr val="FF5A50"/>
      </a:accent1>
      <a:accent2>
        <a:srgbClr val="FFECD0"/>
      </a:accent2>
      <a:accent3>
        <a:srgbClr val="EBEBEB"/>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2605</Words>
  <Application>Microsoft Office PowerPoint</Application>
  <PresentationFormat>Widescreen</PresentationFormat>
  <Paragraphs>220</Paragraphs>
  <Slides>29</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6" baseType="lpstr">
      <vt:lpstr>Amiri</vt:lpstr>
      <vt:lpstr>Arial</vt:lpstr>
      <vt:lpstr>Calibri</vt:lpstr>
      <vt:lpstr>Calibri Light</vt:lpstr>
      <vt:lpstr>Wingdings</vt:lpstr>
      <vt:lpstr>Office Theme</vt:lpstr>
      <vt:lpstr>Document</vt:lpstr>
      <vt:lpstr> Introduction to Macro Economic Principles </vt:lpstr>
      <vt:lpstr>Unit 10</vt:lpstr>
      <vt:lpstr>What we talked about last week</vt:lpstr>
      <vt:lpstr>PowerPoint Presentation</vt:lpstr>
      <vt:lpstr>Income, Borrowing, Saving and the Balance sheet</vt:lpstr>
      <vt:lpstr>Income and wealth</vt:lpstr>
      <vt:lpstr>Other key concepts</vt:lpstr>
      <vt:lpstr>Balance sheet</vt:lpstr>
      <vt:lpstr>Commercial bank’s balance sheet</vt:lpstr>
      <vt:lpstr>Bank assets</vt:lpstr>
      <vt:lpstr>Bank Liabilities</vt:lpstr>
      <vt:lpstr>Commercial bank’s balance sheet</vt:lpstr>
      <vt:lpstr>The Financial System, Banks, and Money</vt:lpstr>
      <vt:lpstr>The financial system</vt:lpstr>
      <vt:lpstr>The financial system</vt:lpstr>
      <vt:lpstr>The financial system</vt:lpstr>
      <vt:lpstr>What is money?</vt:lpstr>
      <vt:lpstr>Functions of money</vt:lpstr>
      <vt:lpstr>Central bank and central bank money</vt:lpstr>
      <vt:lpstr>Commercial banks</vt:lpstr>
      <vt:lpstr>Creation of commercial bank money example</vt:lpstr>
      <vt:lpstr>Default risk and liquidity risk</vt:lpstr>
      <vt:lpstr>The money market</vt:lpstr>
      <vt:lpstr>Credit rationing</vt:lpstr>
      <vt:lpstr>Principal-agent problem in credit markets</vt:lpstr>
      <vt:lpstr>Equity and collateral</vt:lpstr>
      <vt:lpstr>Credit rationing</vt:lpstr>
      <vt:lpstr>Summary</vt:lpstr>
      <vt:lpstr>Next week</vt:lpstr>
    </vt:vector>
  </TitlesOfParts>
  <Company>University of Bristol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dc:title>
  <dc:creator>AJ Lait</dc:creator>
  <cp:lastModifiedBy>Sophia Kuehnlenz</cp:lastModifiedBy>
  <cp:revision>237</cp:revision>
  <dcterms:created xsi:type="dcterms:W3CDTF">2017-10-18T14:55:57Z</dcterms:created>
  <dcterms:modified xsi:type="dcterms:W3CDTF">2022-09-09T14:28:09Z</dcterms:modified>
</cp:coreProperties>
</file>