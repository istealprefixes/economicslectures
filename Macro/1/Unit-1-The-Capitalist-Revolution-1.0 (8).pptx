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24" r:id="rId2"/>
    <p:sldId id="361" r:id="rId3"/>
    <p:sldId id="261" r:id="rId4"/>
    <p:sldId id="260" r:id="rId5"/>
    <p:sldId id="362" r:id="rId6"/>
    <p:sldId id="360" r:id="rId7"/>
    <p:sldId id="332" r:id="rId8"/>
    <p:sldId id="256" r:id="rId9"/>
    <p:sldId id="258" r:id="rId10"/>
    <p:sldId id="257" r:id="rId11"/>
    <p:sldId id="304" r:id="rId12"/>
    <p:sldId id="316" r:id="rId13"/>
    <p:sldId id="263" r:id="rId14"/>
    <p:sldId id="288" r:id="rId15"/>
    <p:sldId id="319" r:id="rId16"/>
    <p:sldId id="335" r:id="rId17"/>
    <p:sldId id="307" r:id="rId18"/>
    <p:sldId id="357" r:id="rId19"/>
    <p:sldId id="264" r:id="rId20"/>
    <p:sldId id="291" r:id="rId21"/>
    <p:sldId id="309" r:id="rId22"/>
    <p:sldId id="292" r:id="rId23"/>
    <p:sldId id="293" r:id="rId24"/>
    <p:sldId id="338" r:id="rId25"/>
    <p:sldId id="339" r:id="rId26"/>
    <p:sldId id="265" r:id="rId27"/>
    <p:sldId id="301" r:id="rId28"/>
    <p:sldId id="302" r:id="rId29"/>
    <p:sldId id="337" r:id="rId30"/>
    <p:sldId id="322" r:id="rId31"/>
    <p:sldId id="323" r:id="rId32"/>
    <p:sldId id="289" r:id="rId33"/>
    <p:sldId id="308" r:id="rId34"/>
    <p:sldId id="285" r:id="rId35"/>
    <p:sldId id="348" r:id="rId36"/>
  </p:sldIdLst>
  <p:sldSz cx="12192000" cy="6858000"/>
  <p:notesSz cx="6797675" cy="9928225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75962-CFC0-4176-83F5-43B1351F46D6}" v="4" dt="2025-09-17T15:50:28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78" y="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Kuehnlenz" userId="20143330-4abf-4396-a178-32b3a305bda4" providerId="ADAL" clId="{7CF75962-CFC0-4176-83F5-43B1351F46D6}"/>
    <pc:docChg chg="custSel addSld delSld modSld">
      <pc:chgData name="Sophia Kuehnlenz" userId="20143330-4abf-4396-a178-32b3a305bda4" providerId="ADAL" clId="{7CF75962-CFC0-4176-83F5-43B1351F46D6}" dt="2025-09-17T16:10:27.859" v="166" actId="207"/>
      <pc:docMkLst>
        <pc:docMk/>
      </pc:docMkLst>
      <pc:sldChg chg="delSp modSp add mod setBg delDesignElem">
        <pc:chgData name="Sophia Kuehnlenz" userId="20143330-4abf-4396-a178-32b3a305bda4" providerId="ADAL" clId="{7CF75962-CFC0-4176-83F5-43B1351F46D6}" dt="2025-09-17T15:51:04.728" v="124" actId="14100"/>
        <pc:sldMkLst>
          <pc:docMk/>
          <pc:sldMk cId="1828112237" sldId="260"/>
        </pc:sldMkLst>
        <pc:spChg chg="mod">
          <ac:chgData name="Sophia Kuehnlenz" userId="20143330-4abf-4396-a178-32b3a305bda4" providerId="ADAL" clId="{7CF75962-CFC0-4176-83F5-43B1351F46D6}" dt="2025-09-17T15:39:41.450" v="29" actId="113"/>
          <ac:spMkLst>
            <pc:docMk/>
            <pc:sldMk cId="1828112237" sldId="260"/>
            <ac:spMk id="2" creationId="{38A400FD-3130-1495-EB17-4C939286F735}"/>
          </ac:spMkLst>
        </pc:spChg>
        <pc:spChg chg="mod">
          <ac:chgData name="Sophia Kuehnlenz" userId="20143330-4abf-4396-a178-32b3a305bda4" providerId="ADAL" clId="{7CF75962-CFC0-4176-83F5-43B1351F46D6}" dt="2025-09-17T15:51:04.728" v="124" actId="14100"/>
          <ac:spMkLst>
            <pc:docMk/>
            <pc:sldMk cId="1828112237" sldId="260"/>
            <ac:spMk id="3" creationId="{DF2D9E0E-C9FA-4F52-B4B7-DBB71135EA18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1828112237" sldId="260"/>
            <ac:spMk id="8" creationId="{D038248A-211C-4EEC-8401-C761B929FB52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1828112237" sldId="260"/>
            <ac:spMk id="10" creationId="{C30A849F-66D9-40C8-BEC8-35AFF8F4568F}"/>
          </ac:spMkLst>
        </pc:spChg>
        <pc:grpChg chg="del">
          <ac:chgData name="Sophia Kuehnlenz" userId="20143330-4abf-4396-a178-32b3a305bda4" providerId="ADAL" clId="{7CF75962-CFC0-4176-83F5-43B1351F46D6}" dt="2025-09-17T15:37:44.003" v="6"/>
          <ac:grpSpMkLst>
            <pc:docMk/>
            <pc:sldMk cId="1828112237" sldId="260"/>
            <ac:grpSpMk id="12" creationId="{04542298-A2B1-480F-A11C-A40EDD19B857}"/>
          </ac:grpSpMkLst>
        </pc:grpChg>
        <pc:grpChg chg="del">
          <ac:chgData name="Sophia Kuehnlenz" userId="20143330-4abf-4396-a178-32b3a305bda4" providerId="ADAL" clId="{7CF75962-CFC0-4176-83F5-43B1351F46D6}" dt="2025-09-17T15:37:44.003" v="6"/>
          <ac:grpSpMkLst>
            <pc:docMk/>
            <pc:sldMk cId="1828112237" sldId="260"/>
            <ac:grpSpMk id="18" creationId="{2A5C9C35-2375-49EB-B99C-17C87D42FE7C}"/>
          </ac:grpSpMkLst>
        </pc:grpChg>
      </pc:sldChg>
      <pc:sldChg chg="delSp modSp add mod setBg delDesignElem">
        <pc:chgData name="Sophia Kuehnlenz" userId="20143330-4abf-4396-a178-32b3a305bda4" providerId="ADAL" clId="{7CF75962-CFC0-4176-83F5-43B1351F46D6}" dt="2025-09-17T15:39:36.072" v="28" actId="113"/>
        <pc:sldMkLst>
          <pc:docMk/>
          <pc:sldMk cId="1664098153" sldId="261"/>
        </pc:sldMkLst>
        <pc:spChg chg="mod">
          <ac:chgData name="Sophia Kuehnlenz" userId="20143330-4abf-4396-a178-32b3a305bda4" providerId="ADAL" clId="{7CF75962-CFC0-4176-83F5-43B1351F46D6}" dt="2025-09-17T15:39:36.072" v="28" actId="113"/>
          <ac:spMkLst>
            <pc:docMk/>
            <pc:sldMk cId="1664098153" sldId="261"/>
            <ac:spMk id="2" creationId="{38A400FD-3130-1495-EB17-4C939286F735}"/>
          </ac:spMkLst>
        </pc:spChg>
        <pc:spChg chg="mod">
          <ac:chgData name="Sophia Kuehnlenz" userId="20143330-4abf-4396-a178-32b3a305bda4" providerId="ADAL" clId="{7CF75962-CFC0-4176-83F5-43B1351F46D6}" dt="2025-09-17T15:38:59.689" v="20" actId="207"/>
          <ac:spMkLst>
            <pc:docMk/>
            <pc:sldMk cId="1664098153" sldId="261"/>
            <ac:spMk id="3" creationId="{DF2D9E0E-C9FA-4F52-B4B7-DBB71135EA18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1664098153" sldId="261"/>
            <ac:spMk id="8" creationId="{D038248A-211C-4EEC-8401-C761B929FB52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1664098153" sldId="261"/>
            <ac:spMk id="10" creationId="{C30A849F-66D9-40C8-BEC8-35AFF8F4568F}"/>
          </ac:spMkLst>
        </pc:spChg>
        <pc:grpChg chg="del">
          <ac:chgData name="Sophia Kuehnlenz" userId="20143330-4abf-4396-a178-32b3a305bda4" providerId="ADAL" clId="{7CF75962-CFC0-4176-83F5-43B1351F46D6}" dt="2025-09-17T15:37:44.003" v="6"/>
          <ac:grpSpMkLst>
            <pc:docMk/>
            <pc:sldMk cId="1664098153" sldId="261"/>
            <ac:grpSpMk id="12" creationId="{04542298-A2B1-480F-A11C-A40EDD19B857}"/>
          </ac:grpSpMkLst>
        </pc:grpChg>
        <pc:grpChg chg="del">
          <ac:chgData name="Sophia Kuehnlenz" userId="20143330-4abf-4396-a178-32b3a305bda4" providerId="ADAL" clId="{7CF75962-CFC0-4176-83F5-43B1351F46D6}" dt="2025-09-17T15:37:44.003" v="6"/>
          <ac:grpSpMkLst>
            <pc:docMk/>
            <pc:sldMk cId="1664098153" sldId="261"/>
            <ac:grpSpMk id="18" creationId="{2A5C9C35-2375-49EB-B99C-17C87D42FE7C}"/>
          </ac:grpSpMkLst>
        </pc:grpChg>
      </pc:sldChg>
      <pc:sldChg chg="delSp modSp del mod">
        <pc:chgData name="Sophia Kuehnlenz" userId="20143330-4abf-4396-a178-32b3a305bda4" providerId="ADAL" clId="{7CF75962-CFC0-4176-83F5-43B1351F46D6}" dt="2025-09-17T15:37:47.077" v="7" actId="47"/>
        <pc:sldMkLst>
          <pc:docMk/>
          <pc:sldMk cId="3598763055" sldId="359"/>
        </pc:sldMkLst>
        <pc:spChg chg="mod">
          <ac:chgData name="Sophia Kuehnlenz" userId="20143330-4abf-4396-a178-32b3a305bda4" providerId="ADAL" clId="{7CF75962-CFC0-4176-83F5-43B1351F46D6}" dt="2025-09-17T15:37:26.717" v="2" actId="20577"/>
          <ac:spMkLst>
            <pc:docMk/>
            <pc:sldMk cId="3598763055" sldId="359"/>
            <ac:spMk id="3" creationId="{4FCCE821-5F8C-4E05-895D-11966221ABAD}"/>
          </ac:spMkLst>
        </pc:spChg>
        <pc:picChg chg="del">
          <ac:chgData name="Sophia Kuehnlenz" userId="20143330-4abf-4396-a178-32b3a305bda4" providerId="ADAL" clId="{7CF75962-CFC0-4176-83F5-43B1351F46D6}" dt="2025-09-17T15:37:24.835" v="1" actId="478"/>
          <ac:picMkLst>
            <pc:docMk/>
            <pc:sldMk cId="3598763055" sldId="359"/>
            <ac:picMk id="5" creationId="{099E36EF-2F41-4961-90A7-068F6E05C7AD}"/>
          </ac:picMkLst>
        </pc:picChg>
      </pc:sldChg>
      <pc:sldChg chg="add">
        <pc:chgData name="Sophia Kuehnlenz" userId="20143330-4abf-4396-a178-32b3a305bda4" providerId="ADAL" clId="{7CF75962-CFC0-4176-83F5-43B1351F46D6}" dt="2025-09-17T15:37:20.777" v="0" actId="2890"/>
        <pc:sldMkLst>
          <pc:docMk/>
          <pc:sldMk cId="3787971895" sldId="360"/>
        </pc:sldMkLst>
      </pc:sldChg>
      <pc:sldChg chg="modSp add mod setBg">
        <pc:chgData name="Sophia Kuehnlenz" userId="20143330-4abf-4396-a178-32b3a305bda4" providerId="ADAL" clId="{7CF75962-CFC0-4176-83F5-43B1351F46D6}" dt="2025-09-17T16:10:27.859" v="166" actId="207"/>
        <pc:sldMkLst>
          <pc:docMk/>
          <pc:sldMk cId="2954511890" sldId="361"/>
        </pc:sldMkLst>
        <pc:spChg chg="mod">
          <ac:chgData name="Sophia Kuehnlenz" userId="20143330-4abf-4396-a178-32b3a305bda4" providerId="ADAL" clId="{7CF75962-CFC0-4176-83F5-43B1351F46D6}" dt="2025-09-17T15:39:31.875" v="27" actId="113"/>
          <ac:spMkLst>
            <pc:docMk/>
            <pc:sldMk cId="2954511890" sldId="361"/>
            <ac:spMk id="2" creationId="{38A400FD-3130-1495-EB17-4C939286F735}"/>
          </ac:spMkLst>
        </pc:spChg>
        <pc:spChg chg="mod">
          <ac:chgData name="Sophia Kuehnlenz" userId="20143330-4abf-4396-a178-32b3a305bda4" providerId="ADAL" clId="{7CF75962-CFC0-4176-83F5-43B1351F46D6}" dt="2025-09-17T16:10:27.859" v="166" actId="207"/>
          <ac:spMkLst>
            <pc:docMk/>
            <pc:sldMk cId="2954511890" sldId="361"/>
            <ac:spMk id="3" creationId="{DF2D9E0E-C9FA-4F52-B4B7-DBB71135EA18}"/>
          </ac:spMkLst>
        </pc:spChg>
        <pc:spChg chg="mod">
          <ac:chgData name="Sophia Kuehnlenz" userId="20143330-4abf-4396-a178-32b3a305bda4" providerId="ADAL" clId="{7CF75962-CFC0-4176-83F5-43B1351F46D6}" dt="2025-09-17T15:38:12.863" v="11" actId="207"/>
          <ac:spMkLst>
            <pc:docMk/>
            <pc:sldMk cId="2954511890" sldId="361"/>
            <ac:spMk id="4" creationId="{2141E27C-B563-B1D3-40DB-F010C08B7FE1}"/>
          </ac:spMkLst>
        </pc:spChg>
        <pc:spChg chg="mod">
          <ac:chgData name="Sophia Kuehnlenz" userId="20143330-4abf-4396-a178-32b3a305bda4" providerId="ADAL" clId="{7CF75962-CFC0-4176-83F5-43B1351F46D6}" dt="2025-09-17T15:46:25.510" v="120" actId="20577"/>
          <ac:spMkLst>
            <pc:docMk/>
            <pc:sldMk cId="2954511890" sldId="361"/>
            <ac:spMk id="6" creationId="{BB64B5F4-9BAE-A730-9063-EF963D7D59EC}"/>
          </ac:spMkLst>
        </pc:spChg>
        <pc:spChg chg="mod">
          <ac:chgData name="Sophia Kuehnlenz" userId="20143330-4abf-4396-a178-32b3a305bda4" providerId="ADAL" clId="{7CF75962-CFC0-4176-83F5-43B1351F46D6}" dt="2025-09-17T15:49:56.255" v="123" actId="20577"/>
          <ac:spMkLst>
            <pc:docMk/>
            <pc:sldMk cId="2954511890" sldId="361"/>
            <ac:spMk id="9" creationId="{164CCEF9-F6FF-4753-65E6-AE1D691D6CBA}"/>
          </ac:spMkLst>
        </pc:spChg>
      </pc:sldChg>
      <pc:sldChg chg="delSp modSp add mod setBg delDesignElem chgLayout">
        <pc:chgData name="Sophia Kuehnlenz" userId="20143330-4abf-4396-a178-32b3a305bda4" providerId="ADAL" clId="{7CF75962-CFC0-4176-83F5-43B1351F46D6}" dt="2025-09-17T15:52:03.614" v="140" actId="113"/>
        <pc:sldMkLst>
          <pc:docMk/>
          <pc:sldMk cId="377847860" sldId="362"/>
        </pc:sldMkLst>
        <pc:spChg chg="mod ord">
          <ac:chgData name="Sophia Kuehnlenz" userId="20143330-4abf-4396-a178-32b3a305bda4" providerId="ADAL" clId="{7CF75962-CFC0-4176-83F5-43B1351F46D6}" dt="2025-09-17T15:51:32.020" v="128" actId="1076"/>
          <ac:spMkLst>
            <pc:docMk/>
            <pc:sldMk cId="377847860" sldId="362"/>
            <ac:spMk id="2" creationId="{3792E469-0381-D157-2465-8085FAC582A8}"/>
          </ac:spMkLst>
        </pc:spChg>
        <pc:spChg chg="mod ord">
          <ac:chgData name="Sophia Kuehnlenz" userId="20143330-4abf-4396-a178-32b3a305bda4" providerId="ADAL" clId="{7CF75962-CFC0-4176-83F5-43B1351F46D6}" dt="2025-09-17T15:52:03.614" v="140" actId="113"/>
          <ac:spMkLst>
            <pc:docMk/>
            <pc:sldMk cId="377847860" sldId="362"/>
            <ac:spMk id="3" creationId="{07E4A559-CE6B-A734-0B35-DEB0D4BC2F23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377847860" sldId="362"/>
            <ac:spMk id="8" creationId="{18873D23-2DCF-4B31-A009-95721C06E8E1}"/>
          </ac:spMkLst>
        </pc:spChg>
        <pc:spChg chg="del">
          <ac:chgData name="Sophia Kuehnlenz" userId="20143330-4abf-4396-a178-32b3a305bda4" providerId="ADAL" clId="{7CF75962-CFC0-4176-83F5-43B1351F46D6}" dt="2025-09-17T15:37:44.003" v="6"/>
          <ac:spMkLst>
            <pc:docMk/>
            <pc:sldMk cId="377847860" sldId="362"/>
            <ac:spMk id="10" creationId="{C13EF075-D4EF-4929-ADBC-91B27DA19955}"/>
          </ac:spMkLst>
        </pc:spChg>
        <pc:grpChg chg="del">
          <ac:chgData name="Sophia Kuehnlenz" userId="20143330-4abf-4396-a178-32b3a305bda4" providerId="ADAL" clId="{7CF75962-CFC0-4176-83F5-43B1351F46D6}" dt="2025-09-17T15:37:44.003" v="6"/>
          <ac:grpSpMkLst>
            <pc:docMk/>
            <pc:sldMk cId="377847860" sldId="362"/>
            <ac:grpSpMk id="12" creationId="{DAA26DFA-AAB2-4973-9C17-16D587C7B198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B1A07-F18E-41BE-95F5-1B9BC58AF744}" type="datetimeFigureOut">
              <a:rPr lang="en-GB" smtClean="0"/>
              <a:pPr/>
              <a:t>17/09/2025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38E3D-771E-4672-A11D-8D2C32B32D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9738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D4287-04A9-4C73-9D55-232C8596F91F}" type="datetimeFigureOut">
              <a:rPr lang="en-GB" smtClean="0"/>
              <a:pPr/>
              <a:t>17/09/2025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B5415-19B2-4E24-9144-8E58C47607A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1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A386-552F-B5BC-76D2-B9FCA452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8ACDB4-08E2-1FA7-8886-ECCB92CD5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1C100F-C7C1-D1FA-0775-69BF24ADB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Source: https://www.flickr.com/photos/182229932@N07/48357051187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3E7A35-10B5-A2B0-04C5-28D2E65D4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763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9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051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868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66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009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86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513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89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86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616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615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44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676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.kuehnlenz@mmu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idings.ndhlovu@mmu.ac.uk" TargetMode="External"/><Relationship Id="rId2" Type="http://schemas.openxmlformats.org/officeDocument/2006/relationships/hyperlink" Target="mailto:s.kuehnlenz@mmu.ac.uk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core-econ.org/espp/" TargetMode="External"/><Relationship Id="rId5" Type="http://schemas.openxmlformats.org/officeDocument/2006/relationships/hyperlink" Target="https://www.core-econ.org/project/core-the-economy/" TargetMode="External"/><Relationship Id="rId4" Type="http://schemas.openxmlformats.org/officeDocument/2006/relationships/hyperlink" Target="mailto:j.g.simister@mmu.ac.uk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ing-economics.org/en/orientation/#compar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/>
            <a:b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dirty="0">
                <a:latin typeface="+mn-lt"/>
                <a:cs typeface="Arial" panose="020B0604020202020204" pitchFamily="34" charset="0"/>
              </a:rPr>
              <a:t>Introduction to Macro Economic Principles </a:t>
            </a:r>
            <a:endParaRPr lang="en-GB" dirty="0">
              <a:latin typeface="+mn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Sophia Kuehnlenz</a:t>
            </a:r>
          </a:p>
          <a:p>
            <a:r>
              <a:rPr lang="en-GB" dirty="0">
                <a:hlinkClick r:id="rId2"/>
              </a:rPr>
              <a:t>s.kuehnlenz@mmu.ac.uk</a:t>
            </a:r>
            <a:endParaRPr lang="en-GB" dirty="0"/>
          </a:p>
          <a:p>
            <a:r>
              <a:rPr lang="en-GB" dirty="0"/>
              <a:t>Lecture week 1</a:t>
            </a:r>
          </a:p>
        </p:txBody>
      </p:sp>
    </p:spTree>
    <p:extLst>
      <p:ext uri="{BB962C8B-B14F-4D97-AF65-F5344CB8AC3E}">
        <p14:creationId xmlns:p14="http://schemas.microsoft.com/office/powerpoint/2010/main" val="218089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0FD-3130-1495-EB17-4C939286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194796"/>
            <a:ext cx="10515600" cy="823912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/>
              <a:t>General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1E27C-B563-B1D3-40DB-F010C08B7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73" y="1046311"/>
            <a:ext cx="5157787" cy="823912"/>
          </a:xfrm>
        </p:spPr>
        <p:txBody>
          <a:bodyPr/>
          <a:lstStyle/>
          <a:p>
            <a:r>
              <a:rPr lang="en-GB" dirty="0"/>
              <a:t>Unit leader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9E0E-C9FA-4F52-B4B7-DBB71135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473" y="2030832"/>
            <a:ext cx="5157787" cy="168144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900" b="1" dirty="0"/>
              <a:t>Dr Sophia Kuehnlenz </a:t>
            </a:r>
            <a:r>
              <a:rPr lang="en-GB" sz="2900" dirty="0">
                <a:solidFill>
                  <a:schemeClr val="tx2"/>
                </a:solidFill>
              </a:rPr>
              <a:t>(</a:t>
            </a:r>
            <a:r>
              <a:rPr lang="en-GB" sz="2900" dirty="0">
                <a:solidFill>
                  <a:schemeClr val="tx2"/>
                </a:solidFill>
                <a:hlinkClick r:id="rId2"/>
              </a:rPr>
              <a:t>s.kuehnlenz@mmu.ac.uk</a:t>
            </a:r>
            <a:r>
              <a:rPr lang="en-GB" sz="2900" dirty="0">
                <a:solidFill>
                  <a:schemeClr val="tx2"/>
                </a:solidFill>
              </a:rPr>
              <a:t>) </a:t>
            </a:r>
          </a:p>
          <a:p>
            <a:r>
              <a:rPr lang="en-GB" sz="2900" dirty="0"/>
              <a:t>Office hour: Wednesday, 13.45 – 14.45 </a:t>
            </a:r>
          </a:p>
          <a:p>
            <a:r>
              <a:rPr lang="en-GB" sz="2900" dirty="0"/>
              <a:t>Office: BS 6.31</a:t>
            </a:r>
          </a:p>
          <a:p>
            <a:r>
              <a:rPr lang="en-GB" sz="2900" dirty="0"/>
              <a:t>Utilise those office hours</a:t>
            </a:r>
          </a:p>
          <a:p>
            <a:r>
              <a:rPr lang="en-GB" sz="2900" dirty="0"/>
              <a:t>Talk to us if you struggle (often it’s just little things) 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A8260-A9E0-AB7F-D507-3526B34ED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5" y="1046311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Tutorial Leaders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4B5F4-9BAE-A730-9063-EF963D7D5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5" y="1956206"/>
            <a:ext cx="5183188" cy="22193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Dr Tidings Ndhlovu </a:t>
            </a:r>
            <a:r>
              <a:rPr lang="en-GB" dirty="0">
                <a:solidFill>
                  <a:schemeClr val="tx2"/>
                </a:solidFill>
              </a:rPr>
              <a:t>(</a:t>
            </a:r>
            <a:r>
              <a:rPr lang="en-GB" dirty="0">
                <a:solidFill>
                  <a:schemeClr val="tx2"/>
                </a:solidFill>
                <a:hlinkClick r:id="rId3"/>
              </a:rPr>
              <a:t>tidings.ndhlovu@mmu.ac.uk</a:t>
            </a:r>
            <a:r>
              <a:rPr lang="en-GB" dirty="0">
                <a:solidFill>
                  <a:schemeClr val="tx2"/>
                </a:solidFill>
              </a:rPr>
              <a:t>) </a:t>
            </a:r>
          </a:p>
          <a:p>
            <a:r>
              <a:rPr lang="en-GB" dirty="0"/>
              <a:t>Office hour: Wednesday, 14:00-15:00 (virtual) </a:t>
            </a:r>
          </a:p>
          <a:p>
            <a:r>
              <a:rPr lang="en-GB" dirty="0"/>
              <a:t>Office: BS 6.32</a:t>
            </a:r>
          </a:p>
          <a:p>
            <a:pPr marL="0" indent="0">
              <a:buNone/>
            </a:pPr>
            <a:r>
              <a:rPr lang="en-GB" b="1" dirty="0"/>
              <a:t>Dr John Simister </a:t>
            </a:r>
            <a:r>
              <a:rPr lang="en-GB" dirty="0">
                <a:solidFill>
                  <a:schemeClr val="tx2"/>
                </a:solidFill>
              </a:rPr>
              <a:t>(</a:t>
            </a:r>
            <a:r>
              <a:rPr lang="en-GB" dirty="0">
                <a:solidFill>
                  <a:schemeClr val="tx2"/>
                </a:solidFill>
                <a:hlinkClick r:id="rId4"/>
              </a:rPr>
              <a:t>j.g.simister@mmu.ac.uk</a:t>
            </a:r>
            <a:r>
              <a:rPr lang="en-GB" dirty="0">
                <a:solidFill>
                  <a:schemeClr val="tx2"/>
                </a:solidFill>
              </a:rPr>
              <a:t>) </a:t>
            </a:r>
          </a:p>
          <a:p>
            <a:r>
              <a:rPr lang="en-GB" dirty="0"/>
              <a:t>Office hours: Monday, 13.00-14.00pm; Tuesday, 13.00-14.00pm</a:t>
            </a:r>
          </a:p>
          <a:p>
            <a:r>
              <a:rPr lang="en-GB" dirty="0"/>
              <a:t>Office: BS 6.34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CCEF9-F6FF-4753-65E6-AE1D691D6CBA}"/>
              </a:ext>
            </a:extLst>
          </p:cNvPr>
          <p:cNvSpPr txBox="1"/>
          <p:nvPr/>
        </p:nvSpPr>
        <p:spPr>
          <a:xfrm>
            <a:off x="564776" y="4033493"/>
            <a:ext cx="111969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main text for this unit:</a:t>
            </a:r>
          </a:p>
          <a:p>
            <a:r>
              <a:rPr lang="en-GB" dirty="0"/>
              <a:t>The Core Team (2017). The Economy: Economics for a changing World (1.0). Oxford: Oxford University Press.</a:t>
            </a:r>
          </a:p>
          <a:p>
            <a:r>
              <a:rPr lang="en-GB" dirty="0"/>
              <a:t>You can </a:t>
            </a:r>
            <a:r>
              <a:rPr lang="en-GB" dirty="0">
                <a:hlinkClick r:id="rId5"/>
              </a:rPr>
              <a:t>access the book for free online  </a:t>
            </a:r>
            <a:endParaRPr lang="en-GB" dirty="0"/>
          </a:p>
          <a:p>
            <a:r>
              <a:rPr lang="en-GB" dirty="0"/>
              <a:t>Which unit you need to read for the week will be under each week on Moodle.  </a:t>
            </a:r>
          </a:p>
          <a:p>
            <a:endParaRPr lang="en-GB" dirty="0"/>
          </a:p>
          <a:p>
            <a:r>
              <a:rPr lang="en-GB" b="1" dirty="0"/>
              <a:t>Complementary material that may be of help:</a:t>
            </a:r>
          </a:p>
          <a:p>
            <a:r>
              <a:rPr lang="en-GB" dirty="0"/>
              <a:t>The Core Team (2019). Economy, Society, and Public Policy. Oxford: Oxford University Press.</a:t>
            </a:r>
          </a:p>
          <a:p>
            <a:r>
              <a:rPr lang="en-GB" dirty="0"/>
              <a:t>You can </a:t>
            </a:r>
            <a:r>
              <a:rPr lang="en-GB" dirty="0">
                <a:solidFill>
                  <a:schemeClr val="tx2"/>
                </a:solidFill>
                <a:hlinkClick r:id="rId6"/>
              </a:rPr>
              <a:t>access the book for free online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5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0FD-3130-1495-EB17-4C939286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6934"/>
            <a:ext cx="9833548" cy="596149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9E0E-C9FA-4F52-B4B7-DBB71135E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703084"/>
            <a:ext cx="10298399" cy="60479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1" dirty="0"/>
              <a:t>Lecture</a:t>
            </a:r>
          </a:p>
          <a:p>
            <a:r>
              <a:rPr lang="en-GB" sz="2000" dirty="0"/>
              <a:t>1h long</a:t>
            </a:r>
          </a:p>
          <a:p>
            <a:r>
              <a:rPr lang="en-GB" sz="2000" dirty="0"/>
              <a:t>Each Wednesday (check your TT for the room)</a:t>
            </a:r>
          </a:p>
          <a:p>
            <a:r>
              <a:rPr lang="en-GB" sz="2000" dirty="0"/>
              <a:t>Will be recorded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Tutorials</a:t>
            </a:r>
          </a:p>
          <a:p>
            <a:r>
              <a:rPr lang="en-GB" sz="2000" dirty="0"/>
              <a:t>1.5 hours long</a:t>
            </a:r>
          </a:p>
          <a:p>
            <a:r>
              <a:rPr lang="en-GB" sz="2000" dirty="0"/>
              <a:t>Each Wednesday and Friday (check your TT for room)</a:t>
            </a:r>
          </a:p>
          <a:p>
            <a:r>
              <a:rPr lang="en-GB" sz="2000" dirty="0"/>
              <a:t>Come prepared – this is how we can give you feedback on your work</a:t>
            </a:r>
          </a:p>
          <a:p>
            <a:r>
              <a:rPr lang="en-GB" sz="2000" dirty="0"/>
              <a:t>It is not a second lecture</a:t>
            </a:r>
          </a:p>
          <a:p>
            <a:r>
              <a:rPr lang="en-GB" sz="2000" dirty="0"/>
              <a:t>You need to do the work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Each week will have a section called Take-Away on Moodle</a:t>
            </a:r>
          </a:p>
          <a:p>
            <a:r>
              <a:rPr lang="en-GB" sz="2000" dirty="0"/>
              <a:t>Main points to focus on</a:t>
            </a:r>
          </a:p>
          <a:p>
            <a:pPr marL="0" indent="0">
              <a:buNone/>
            </a:pPr>
            <a:r>
              <a:rPr lang="en-GB" sz="2000" b="1" dirty="0"/>
              <a:t>Each week will be accompanied by a video</a:t>
            </a:r>
          </a:p>
          <a:p>
            <a:r>
              <a:rPr lang="en-GB" sz="2000" dirty="0"/>
              <a:t>Aim: get you thinking critically about concepts in this unit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09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0FD-3130-1495-EB17-4C939286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35459"/>
            <a:ext cx="9833548" cy="655116"/>
          </a:xfrm>
        </p:spPr>
        <p:txBody>
          <a:bodyPr anchor="b">
            <a:normAutofit/>
          </a:bodyPr>
          <a:lstStyle/>
          <a:p>
            <a:pPr algn="ctr"/>
            <a:r>
              <a:rPr lang="en-GB" sz="3600" b="1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9E0E-C9FA-4F52-B4B7-DBB71135E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790576"/>
            <a:ext cx="9833548" cy="5638800"/>
          </a:xfrm>
        </p:spPr>
        <p:txBody>
          <a:bodyPr>
            <a:normAutofit lnSpcReduction="10000"/>
          </a:bodyPr>
          <a:lstStyle/>
          <a:p>
            <a:r>
              <a:rPr lang="en-GB" sz="2000" b="1" dirty="0"/>
              <a:t>Against the backdrop of the polycrisis</a:t>
            </a:r>
          </a:p>
          <a:p>
            <a:r>
              <a:rPr lang="en-GB" sz="2000" b="1" dirty="0"/>
              <a:t>Unit is split into two parts</a:t>
            </a:r>
          </a:p>
          <a:p>
            <a:pPr marL="0" indent="0">
              <a:buNone/>
            </a:pPr>
            <a:r>
              <a:rPr lang="en-GB" sz="2000" b="1" u="sng" dirty="0"/>
              <a:t>Theory (weeks 1-5): </a:t>
            </a:r>
          </a:p>
          <a:p>
            <a:r>
              <a:rPr lang="en-GB" sz="2000" dirty="0"/>
              <a:t>Economic theory explaining (or trying to explain) economic fluctuations</a:t>
            </a:r>
          </a:p>
          <a:p>
            <a:r>
              <a:rPr lang="en-GB" sz="2000" dirty="0"/>
              <a:t>We will look at the industrial revolution (briefly)</a:t>
            </a:r>
          </a:p>
          <a:p>
            <a:r>
              <a:rPr lang="en-GB" sz="2000" dirty="0"/>
              <a:t>We will look at GDP and its components in detail</a:t>
            </a:r>
          </a:p>
          <a:p>
            <a:pPr lvl="1"/>
            <a:r>
              <a:rPr lang="en-GB" sz="1600" dirty="0"/>
              <a:t>Via equations and models</a:t>
            </a:r>
          </a:p>
          <a:p>
            <a:r>
              <a:rPr lang="en-GB" sz="2000" dirty="0"/>
              <a:t>We will look at theoretical explanations of interconnected variables (e.g. GDP growth, inflation and unemployment levels) using specific economic theories and approaches</a:t>
            </a:r>
          </a:p>
          <a:p>
            <a:r>
              <a:rPr lang="en-GB" sz="2000" dirty="0"/>
              <a:t>We will look at policy choices to address fluctuations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u="sng" dirty="0"/>
              <a:t>Application (weeks 7-10):</a:t>
            </a:r>
          </a:p>
          <a:p>
            <a:r>
              <a:rPr lang="en-GB" sz="2000" dirty="0"/>
              <a:t>We will look at actual data to check whether the economic theories hold and/ or can explain economies </a:t>
            </a:r>
          </a:p>
          <a:p>
            <a:r>
              <a:rPr lang="en-GB" sz="2000" dirty="0"/>
              <a:t>We will look that this critically to evaluate the validity of theories and calculations</a:t>
            </a:r>
          </a:p>
          <a:p>
            <a:r>
              <a:rPr lang="en-GB" sz="2000" dirty="0"/>
              <a:t>Focus will be (mostly) on the UK</a:t>
            </a:r>
          </a:p>
        </p:txBody>
      </p:sp>
    </p:spTree>
    <p:extLst>
      <p:ext uri="{BB962C8B-B14F-4D97-AF65-F5344CB8AC3E}">
        <p14:creationId xmlns:p14="http://schemas.microsoft.com/office/powerpoint/2010/main" val="182811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E469-0381-D157-2465-8085FAC5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"/>
            <a:ext cx="10515600" cy="996950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A559-CE6B-A734-0B35-DEB0D4BC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5"/>
            <a:ext cx="10515600" cy="5505450"/>
          </a:xfrm>
        </p:spPr>
        <p:txBody>
          <a:bodyPr anchor="ctr">
            <a:noAutofit/>
          </a:bodyPr>
          <a:lstStyle/>
          <a:p>
            <a:r>
              <a:rPr lang="en-GB" sz="2200" dirty="0"/>
              <a:t>2 parts – MCQ (20%) and written assignment (80%) </a:t>
            </a:r>
          </a:p>
          <a:p>
            <a:r>
              <a:rPr lang="en-GB" sz="2200" dirty="0"/>
              <a:t>Details on Moodle</a:t>
            </a:r>
          </a:p>
          <a:p>
            <a:r>
              <a:rPr lang="en-GB" sz="2200" b="1" dirty="0"/>
              <a:t>MCQ: </a:t>
            </a:r>
          </a:p>
          <a:p>
            <a:pPr lvl="1"/>
            <a:r>
              <a:rPr lang="en-GB" sz="2000" b="1" i="1" dirty="0"/>
              <a:t>31</a:t>
            </a:r>
            <a:r>
              <a:rPr lang="en-GB" sz="2000" b="1" i="1" baseline="30000" dirty="0"/>
              <a:t>st</a:t>
            </a:r>
            <a:r>
              <a:rPr lang="en-GB" sz="2000" b="1" i="1" dirty="0"/>
              <a:t> October 2025</a:t>
            </a:r>
          </a:p>
          <a:p>
            <a:pPr lvl="1"/>
            <a:r>
              <a:rPr lang="en-GB" sz="2000" dirty="0"/>
              <a:t>You have 2 hours for 20 randomly chosen questions</a:t>
            </a:r>
          </a:p>
          <a:p>
            <a:pPr lvl="1"/>
            <a:r>
              <a:rPr lang="en-GB" sz="2000" dirty="0"/>
              <a:t>Four answers per question – only one is correct</a:t>
            </a:r>
          </a:p>
          <a:p>
            <a:pPr lvl="1"/>
            <a:r>
              <a:rPr lang="en-GB" sz="2000" dirty="0"/>
              <a:t>Start: 2.00 pm</a:t>
            </a:r>
          </a:p>
          <a:p>
            <a:pPr lvl="1"/>
            <a:r>
              <a:rPr lang="en-GB" sz="2000" dirty="0"/>
              <a:t>End: 8.00 pm </a:t>
            </a:r>
          </a:p>
          <a:p>
            <a:pPr lvl="1"/>
            <a:r>
              <a:rPr lang="en-GB" sz="2000" dirty="0"/>
              <a:t>Use the MCQ to build “points” towards the assessment</a:t>
            </a:r>
          </a:p>
          <a:p>
            <a:r>
              <a:rPr lang="en-GB" sz="2200" b="1" dirty="0"/>
              <a:t>Assignment:</a:t>
            </a:r>
          </a:p>
          <a:p>
            <a:pPr lvl="1"/>
            <a:r>
              <a:rPr lang="en-GB" sz="2000" b="1" i="1" dirty="0"/>
              <a:t>Deadline: 12</a:t>
            </a:r>
            <a:r>
              <a:rPr lang="en-GB" sz="2000" b="1" i="1" baseline="30000" dirty="0"/>
              <a:t>th</a:t>
            </a:r>
            <a:r>
              <a:rPr lang="en-GB" sz="2000" b="1" i="1" dirty="0"/>
              <a:t> December at 9.00 pm</a:t>
            </a:r>
          </a:p>
          <a:p>
            <a:pPr lvl="1"/>
            <a:r>
              <a:rPr lang="en-GB" sz="2000" dirty="0"/>
              <a:t>You should be able to start writing on the theoretical section </a:t>
            </a:r>
            <a:r>
              <a:rPr lang="en-GB" sz="2000" i="1" dirty="0"/>
              <a:t>after week 5 </a:t>
            </a:r>
          </a:p>
          <a:p>
            <a:pPr lvl="1"/>
            <a:r>
              <a:rPr lang="en-GB" sz="2000" dirty="0"/>
              <a:t>Detail is key</a:t>
            </a:r>
          </a:p>
          <a:p>
            <a:r>
              <a:rPr lang="en-GB" sz="2200" dirty="0"/>
              <a:t>Have a look at the assessment brief to ensure you know what to do and what is expected for the written assignment</a:t>
            </a:r>
          </a:p>
        </p:txBody>
      </p:sp>
    </p:spTree>
    <p:extLst>
      <p:ext uri="{BB962C8B-B14F-4D97-AF65-F5344CB8AC3E}">
        <p14:creationId xmlns:p14="http://schemas.microsoft.com/office/powerpoint/2010/main" val="37784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C257-A98B-D9AB-FD84-E5CB8FE4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C5E81-B400-287E-09FC-14BC0F88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345"/>
            <a:ext cx="10515600" cy="789991"/>
          </a:xfrm>
        </p:spPr>
        <p:txBody>
          <a:bodyPr/>
          <a:lstStyle/>
          <a:p>
            <a:pPr algn="ctr"/>
            <a:r>
              <a:rPr lang="en-GB" dirty="0">
                <a:latin typeface="+mn-lt"/>
              </a:rPr>
              <a:t>What is macroeconomics?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FA96DC-96A0-8BA8-762A-9051B741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336"/>
            <a:ext cx="10515600" cy="2290194"/>
          </a:xfrm>
        </p:spPr>
        <p:txBody>
          <a:bodyPr/>
          <a:lstStyle/>
          <a:p>
            <a:r>
              <a:rPr lang="en-GB" dirty="0"/>
              <a:t>The big picture</a:t>
            </a:r>
          </a:p>
          <a:p>
            <a:r>
              <a:rPr lang="en-GB" dirty="0"/>
              <a:t>Whole of the economy - aggregates (nationally and internationally)</a:t>
            </a:r>
          </a:p>
          <a:p>
            <a:pPr lvl="1"/>
            <a:r>
              <a:rPr lang="en-GB" dirty="0"/>
              <a:t>GDP growth, inflation</a:t>
            </a:r>
            <a:r>
              <a:rPr lang="en-GB"/>
              <a:t>, </a:t>
            </a:r>
            <a:r>
              <a:rPr lang="en-GB" dirty="0"/>
              <a:t>i</a:t>
            </a:r>
            <a:r>
              <a:rPr lang="en-GB"/>
              <a:t>nvestment</a:t>
            </a:r>
            <a:r>
              <a:rPr lang="en-GB" dirty="0"/>
              <a:t>, unemployment, economic fluctuations and crises, role of institutions, inequality…</a:t>
            </a:r>
          </a:p>
          <a:p>
            <a:pPr lvl="1"/>
            <a:r>
              <a:rPr lang="en-GB" dirty="0"/>
              <a:t>What would you add?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0EF00D5-335D-B296-E32A-EA3CA3ADB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147" y="3046711"/>
            <a:ext cx="643970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7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2370"/>
            <a:ext cx="10515600" cy="138442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Two ways of looking at the economy: Mainstream and heterodox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23" y="1605428"/>
            <a:ext cx="11400354" cy="39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8924" y="6127422"/>
            <a:ext cx="5005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3"/>
              </a:rPr>
              <a:t>https://www.exploring-economics.org/en/orientation/#compare</a:t>
            </a:r>
            <a:endParaRPr lang="en-GB" sz="1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79BE7B-3284-441E-8993-D4E1A9C8DBCA}"/>
              </a:ext>
            </a:extLst>
          </p:cNvPr>
          <p:cNvSpPr/>
          <p:nvPr/>
        </p:nvSpPr>
        <p:spPr>
          <a:xfrm>
            <a:off x="595901" y="4709695"/>
            <a:ext cx="1736333" cy="11547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2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7263" y="2165684"/>
            <a:ext cx="9144000" cy="916489"/>
          </a:xfrm>
        </p:spPr>
        <p:txBody>
          <a:bodyPr/>
          <a:lstStyle/>
          <a:p>
            <a:r>
              <a:rPr lang="en-GB" dirty="0">
                <a:latin typeface="+mn-lt"/>
                <a:cs typeface="Calibri"/>
              </a:rPr>
              <a:t>Unit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7263" y="3281196"/>
            <a:ext cx="9144000" cy="1655762"/>
          </a:xfrm>
        </p:spPr>
        <p:txBody>
          <a:bodyPr>
            <a:normAutofit/>
          </a:bodyPr>
          <a:lstStyle/>
          <a:p>
            <a:r>
              <a:rPr lang="en-GB" sz="3200" dirty="0"/>
              <a:t>THE CAPITALIST REVOLUTION</a:t>
            </a:r>
          </a:p>
        </p:txBody>
      </p:sp>
    </p:spTree>
    <p:extLst>
      <p:ext uri="{BB962C8B-B14F-4D97-AF65-F5344CB8AC3E}">
        <p14:creationId xmlns:p14="http://schemas.microsoft.com/office/powerpoint/2010/main" val="92806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What we will talk about today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555"/>
            <a:ext cx="10515600" cy="47474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8797" y="1783614"/>
            <a:ext cx="9789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/>
              <a:t>Economic inequality and divergence</a:t>
            </a:r>
          </a:p>
          <a:p>
            <a:pPr marL="457200" indent="-457200">
              <a:buFont typeface="Arial"/>
              <a:buChar char="•"/>
            </a:pPr>
            <a:endParaRPr lang="en-US" sz="3200" dirty="0"/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The technological revolution and growth</a:t>
            </a:r>
          </a:p>
          <a:p>
            <a:pPr marL="457200" indent="-457200">
              <a:buFont typeface="Arial"/>
              <a:buChar char="•"/>
            </a:pPr>
            <a:endParaRPr lang="en-US" sz="3200" dirty="0"/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The role of capitalism in economic growth</a:t>
            </a:r>
          </a:p>
          <a:p>
            <a:pPr marL="457200" indent="-457200">
              <a:buFont typeface="Arial"/>
              <a:buChar char="•"/>
            </a:pPr>
            <a:endParaRPr lang="en-US" sz="3200" dirty="0"/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Importance of the government in capitalist economies</a:t>
            </a:r>
          </a:p>
        </p:txBody>
      </p:sp>
    </p:spTree>
    <p:extLst>
      <p:ext uri="{BB962C8B-B14F-4D97-AF65-F5344CB8AC3E}">
        <p14:creationId xmlns:p14="http://schemas.microsoft.com/office/powerpoint/2010/main" val="333952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What we will try to explain</a:t>
            </a:r>
            <a:r>
              <a:rPr lang="de-DE" sz="4800" dirty="0">
                <a:latin typeface="+mn-lt"/>
              </a:rPr>
              <a:t>:</a:t>
            </a:r>
            <a:endParaRPr lang="en-GB" sz="48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432" y="5436459"/>
            <a:ext cx="115070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Rapid, sustained growth in </a:t>
            </a:r>
            <a:r>
              <a:rPr lang="en-US" sz="3200" i="1" dirty="0"/>
              <a:t>average living standards </a:t>
            </a:r>
            <a:r>
              <a:rPr lang="en-US" sz="3200" dirty="0"/>
              <a:t>since 1700.</a:t>
            </a:r>
          </a:p>
          <a:p>
            <a:pPr algn="ctr"/>
            <a:r>
              <a:rPr lang="en-US" sz="3200" dirty="0"/>
              <a:t>How did this happen?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769" y="1185377"/>
            <a:ext cx="5660724" cy="436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7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638" y="100206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Measuring income and living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469" y="1560699"/>
            <a:ext cx="110399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Gross Domestic Product (GDP)</a:t>
            </a:r>
            <a:r>
              <a:rPr lang="en-US" sz="2800" dirty="0"/>
              <a:t> = A measure of total </a:t>
            </a:r>
            <a:r>
              <a:rPr lang="en-US" sz="2800" i="1" dirty="0"/>
              <a:t>income</a:t>
            </a:r>
            <a:r>
              <a:rPr lang="en-US" sz="2800" dirty="0"/>
              <a:t> and </a:t>
            </a:r>
            <a:r>
              <a:rPr lang="en-US" sz="2800" i="1" dirty="0"/>
              <a:t>output</a:t>
            </a:r>
            <a:r>
              <a:rPr lang="en-US" sz="2800" dirty="0"/>
              <a:t> of the economy in a given period.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Usually expressed in </a:t>
            </a:r>
            <a:r>
              <a:rPr lang="en-US" sz="2800" b="1" dirty="0"/>
              <a:t>per-capita </a:t>
            </a:r>
            <a:r>
              <a:rPr lang="en-US" sz="2800" dirty="0"/>
              <a:t>terms (as an average income).</a:t>
            </a:r>
          </a:p>
          <a:p>
            <a:pPr marL="914400" lvl="1" indent="-457200">
              <a:buFont typeface="Arial"/>
              <a:buChar char="•"/>
            </a:pPr>
            <a:r>
              <a:rPr lang="en-US" sz="2800" b="1" dirty="0"/>
              <a:t>Per-capita income</a:t>
            </a:r>
            <a:r>
              <a:rPr lang="en-US" sz="2800" dirty="0"/>
              <a:t>: GDP divided by a country’s population 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 issues?</a:t>
            </a:r>
            <a:endParaRPr lang="en-US" sz="2800" dirty="0">
              <a:solidFill>
                <a:srgbClr val="FF0000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800" dirty="0"/>
              <a:t>Can you measure wellbeing and standard of living in that way?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GDP per capita ≠ Disposable income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3399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+mn-lt"/>
              </a:rPr>
              <a:t>Measuring income and living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Disposable income </a:t>
            </a:r>
            <a:r>
              <a:rPr lang="en-US" dirty="0"/>
              <a:t>= Total income – taxes + government transfers</a:t>
            </a:r>
          </a:p>
          <a:p>
            <a:pPr lvl="1"/>
            <a:r>
              <a:rPr lang="en-US" dirty="0"/>
              <a:t>A good measure for wellbeing?</a:t>
            </a:r>
          </a:p>
          <a:p>
            <a:pPr lvl="1"/>
            <a:r>
              <a:rPr lang="en-US" dirty="0"/>
              <a:t>Is all of our wellbeing related to what we can buy?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u="sng" dirty="0"/>
              <a:t>Both are imperfect measures of well-being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94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1463" y="2525598"/>
            <a:ext cx="10515600" cy="1076513"/>
          </a:xfrm>
        </p:spPr>
        <p:txBody>
          <a:bodyPr/>
          <a:lstStyle/>
          <a:p>
            <a:pPr algn="ctr"/>
            <a:r>
              <a:rPr lang="en-GB" dirty="0">
                <a:latin typeface="+mn-lt"/>
              </a:rPr>
              <a:t> “Hockey-stick” growth</a:t>
            </a:r>
          </a:p>
        </p:txBody>
      </p:sp>
    </p:spTree>
    <p:extLst>
      <p:ext uri="{BB962C8B-B14F-4D97-AF65-F5344CB8AC3E}">
        <p14:creationId xmlns:p14="http://schemas.microsoft.com/office/powerpoint/2010/main" val="3080656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22" y="92609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GDP growth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837" y="5463492"/>
            <a:ext cx="11138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“Hockey-stick” curves represent the sustained rapid growth in GDP per capita experienced by countries worldwide.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293" y="909860"/>
            <a:ext cx="6307016" cy="459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9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+mn-lt"/>
              </a:rPr>
              <a:t>GDP growth rates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65" y="1560706"/>
            <a:ext cx="7767415" cy="4575174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GB" u="sng" dirty="0"/>
              <a:t>What we learn from the figure:</a:t>
            </a:r>
          </a:p>
          <a:p>
            <a:pPr fontAlgn="base"/>
            <a:r>
              <a:rPr lang="en-GB" dirty="0"/>
              <a:t>Growth rates in Japan, China and India were higher than elsewhere (the curves are steeper)</a:t>
            </a:r>
          </a:p>
          <a:p>
            <a:pPr fontAlgn="base"/>
            <a:r>
              <a:rPr lang="en-GB" dirty="0"/>
              <a:t>For a very long time, living standards did not grow in any sustained way.</a:t>
            </a:r>
          </a:p>
          <a:p>
            <a:pPr fontAlgn="base"/>
            <a:r>
              <a:rPr lang="en-GB" dirty="0"/>
              <a:t>When sustained growth occurred, it began at different times in different countries, leading to vast differences in living standards around the world</a:t>
            </a:r>
          </a:p>
          <a:p>
            <a:pPr fontAlgn="base"/>
            <a:r>
              <a:rPr lang="en-GB" dirty="0"/>
              <a:t>In some economies, substantial improvements in people’s living standards did not occur until they gained independence from colonial rule or interference by European nations.</a:t>
            </a:r>
            <a:endParaRPr lang="en-US" dirty="0"/>
          </a:p>
          <a:p>
            <a:pPr fontAlgn="base"/>
            <a:endParaRPr lang="en-GB" dirty="0"/>
          </a:p>
          <a:p>
            <a:pPr fontAlgn="base"/>
            <a:endParaRPr lang="en-GB" dirty="0"/>
          </a:p>
          <a:p>
            <a:pPr marL="0" indent="0" fontAlgn="base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56" y="2116182"/>
            <a:ext cx="3907872" cy="284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r>
              <a:rPr lang="en-GB" sz="3200" b="1" dirty="0"/>
              <a:t>What could be the explanation for this “suddenly occurring“ rapid growth?</a:t>
            </a:r>
          </a:p>
        </p:txBody>
      </p:sp>
    </p:spTree>
    <p:extLst>
      <p:ext uri="{BB962C8B-B14F-4D97-AF65-F5344CB8AC3E}">
        <p14:creationId xmlns:p14="http://schemas.microsoft.com/office/powerpoint/2010/main" val="3428279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3183"/>
            <a:ext cx="10515600" cy="66468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dirty="0">
                <a:latin typeface="+mn-lt"/>
              </a:rPr>
              <a:t>The Industrial Revolution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7447" y="1288034"/>
            <a:ext cx="1158200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Industrial Revolution </a:t>
            </a:r>
            <a:r>
              <a:rPr lang="en-US" sz="3200" dirty="0"/>
              <a:t>= </a:t>
            </a:r>
            <a:r>
              <a:rPr lang="en-GB" sz="3200" dirty="0"/>
              <a:t>a wave of </a:t>
            </a:r>
            <a:r>
              <a:rPr lang="en-GB" sz="3200" i="1" dirty="0"/>
              <a:t>technological</a:t>
            </a:r>
            <a:r>
              <a:rPr lang="en-GB" sz="3200" dirty="0"/>
              <a:t> advances starting in Britain in the 18th century, which transformed an </a:t>
            </a:r>
            <a:r>
              <a:rPr lang="en-GB" sz="3200" i="1" dirty="0"/>
              <a:t>agrarian and craft-based </a:t>
            </a:r>
            <a:r>
              <a:rPr lang="en-GB" sz="3200" dirty="0"/>
              <a:t>economy into a </a:t>
            </a:r>
            <a:r>
              <a:rPr lang="en-GB" sz="3200" i="1" dirty="0"/>
              <a:t>commercial and industrial </a:t>
            </a:r>
            <a:r>
              <a:rPr lang="en-GB" sz="3200" dirty="0"/>
              <a:t>economy.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Technological revolution </a:t>
            </a:r>
            <a:r>
              <a:rPr lang="en-GB" sz="3200" dirty="0"/>
              <a:t>tied to capitalist revolution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Application of new technologies (steam engine, electricity, transportation, IT)</a:t>
            </a:r>
          </a:p>
          <a:p>
            <a:pPr marL="914400" lvl="1" indent="-457200">
              <a:buFont typeface="Wingdings" panose="05000000000000000000" pitchFamily="2" charset="2"/>
              <a:buChar char="à"/>
            </a:pPr>
            <a:r>
              <a:rPr lang="en-US" sz="3200" dirty="0">
                <a:sym typeface="Wingdings" panose="05000000000000000000" pitchFamily="2" charset="2"/>
              </a:rPr>
              <a:t>Innovation did not end with the Industrial Revolution</a:t>
            </a:r>
          </a:p>
          <a:p>
            <a:pPr marL="914400" lvl="1" indent="-457200">
              <a:buFont typeface="Wingdings" panose="05000000000000000000" pitchFamily="2" charset="2"/>
              <a:buChar char="à"/>
            </a:pPr>
            <a:r>
              <a:rPr lang="en-US" sz="3200" dirty="0">
                <a:sym typeface="Wingdings" panose="05000000000000000000" pitchFamily="2" charset="2"/>
              </a:rPr>
              <a:t>Changed the way economies work – increase standard of living </a:t>
            </a:r>
          </a:p>
          <a:p>
            <a:pPr marL="914400" lvl="1" indent="-457200">
              <a:buFont typeface="Wingdings" panose="05000000000000000000" pitchFamily="2" charset="2"/>
              <a:buChar char="à"/>
            </a:pPr>
            <a:r>
              <a:rPr lang="en-US" sz="3200" dirty="0">
                <a:sym typeface="Wingdings" panose="05000000000000000000" pitchFamily="2" charset="2"/>
              </a:rPr>
              <a:t>Transformation of societies (from farmer to worker) </a:t>
            </a:r>
          </a:p>
          <a:p>
            <a:pPr marL="914400" lvl="1" indent="-457200">
              <a:buFont typeface="Wingdings" panose="05000000000000000000" pitchFamily="2" charset="2"/>
              <a:buChar char="à"/>
            </a:pPr>
            <a:r>
              <a:rPr lang="en-US" sz="3200" dirty="0">
                <a:sym typeface="Wingdings" panose="05000000000000000000" pitchFamily="2" charset="2"/>
              </a:rPr>
              <a:t>Capitalism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7339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CD1756-1488-4EC0-B92E-CD213D46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587"/>
            <a:ext cx="10515600" cy="89889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+mn-lt"/>
              </a:rPr>
              <a:t>How can you explain the stagnation before the industrial revolution?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73ABB4-04D4-4F7F-AAF5-09F6D277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975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Malthus’ Law: </a:t>
            </a:r>
          </a:p>
          <a:p>
            <a:r>
              <a:rPr lang="en-US" dirty="0"/>
              <a:t>Population expands if living standards increase</a:t>
            </a:r>
          </a:p>
          <a:p>
            <a:r>
              <a:rPr lang="en-US" dirty="0"/>
              <a:t>But as more people work on the land, their income will inevitably fall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Higher population and decreasing living standards</a:t>
            </a:r>
          </a:p>
          <a:p>
            <a:r>
              <a:rPr lang="en-US" dirty="0">
                <a:sym typeface="Wingdings" panose="05000000000000000000" pitchFamily="2" charset="2"/>
              </a:rPr>
              <a:t>But with technological revolution, capitalist revolution more can be produced with greater efficiency (e.g. specialization)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 Introduction to Microeconomic Principles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947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91944" y="2738604"/>
            <a:ext cx="4408112" cy="872791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+mn-lt"/>
              </a:rPr>
              <a:t>Capitalism</a:t>
            </a:r>
          </a:p>
        </p:txBody>
      </p:sp>
    </p:spTree>
    <p:extLst>
      <p:ext uri="{BB962C8B-B14F-4D97-AF65-F5344CB8AC3E}">
        <p14:creationId xmlns:p14="http://schemas.microsoft.com/office/powerpoint/2010/main" val="3080656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93" y="219597"/>
            <a:ext cx="10515600" cy="756947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Key Concepts defining Capitalism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93" y="976544"/>
            <a:ext cx="109251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Private property </a:t>
            </a:r>
            <a:r>
              <a:rPr lang="en-US" sz="3200" dirty="0"/>
              <a:t>= ownership rights over possessions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An important type of private property is </a:t>
            </a:r>
            <a:r>
              <a:rPr lang="en-GB" sz="3200" b="1" dirty="0"/>
              <a:t>capital goods </a:t>
            </a:r>
            <a:r>
              <a:rPr lang="en-GB" sz="3200" dirty="0"/>
              <a:t>= the non-labour inputs used in production (buildings, machines, raw materials). 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Does not include some essentials, e.g. air, knowledge</a:t>
            </a:r>
          </a:p>
          <a:p>
            <a:pPr marL="457200" indent="-457200">
              <a:buFont typeface="Arial"/>
              <a:buChar char="•"/>
            </a:pPr>
            <a:endParaRPr lang="en-US" sz="3200" dirty="0"/>
          </a:p>
          <a:p>
            <a:r>
              <a:rPr lang="en-US" sz="3200" b="1" u="sng" dirty="0"/>
              <a:t>Markets</a:t>
            </a:r>
            <a:r>
              <a:rPr lang="en-US" sz="3200" dirty="0"/>
              <a:t> = a way for people to exchange products and services for their mutual benefit. Unlike other types of exchange, markets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    Are reciprocated transfers (both sides involved in exchange)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    Voluntary (transaction beneficial for both, buyers and sellers)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    Usually there is competition (not just one seller/buyer)</a:t>
            </a:r>
          </a:p>
        </p:txBody>
      </p:sp>
    </p:spTree>
    <p:extLst>
      <p:ext uri="{BB962C8B-B14F-4D97-AF65-F5344CB8AC3E}">
        <p14:creationId xmlns:p14="http://schemas.microsoft.com/office/powerpoint/2010/main" val="2167719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93" y="219597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Key Concepts defining Capitalism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089" y="1204106"/>
            <a:ext cx="109251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Firms</a:t>
            </a:r>
            <a:r>
              <a:rPr lang="en-US" sz="3200" dirty="0"/>
              <a:t> =  business organization (owned by one or more individuals) that uses inputs to produce outputs, and sets prices to at least cover production costs.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Inputs and outputs are private property (of the owners)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Firms use markets to sell outputs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The aim is usually to make profit</a:t>
            </a:r>
          </a:p>
          <a:p>
            <a:pPr marL="457200" indent="-457200">
              <a:buFont typeface="Arial"/>
              <a:buChar char="•"/>
            </a:pPr>
            <a:r>
              <a:rPr lang="en-GB" sz="3200" dirty="0"/>
              <a:t>They pay wages and salaries to employees</a:t>
            </a:r>
          </a:p>
          <a:p>
            <a:pPr marL="457200" indent="-457200">
              <a:buFont typeface="Arial"/>
              <a:buChar char="•"/>
            </a:pPr>
            <a:r>
              <a:rPr lang="en-GB" sz="3200" dirty="0"/>
              <a:t>They direct the employees (through the managers they also employ) in the production of goods and services</a:t>
            </a:r>
          </a:p>
        </p:txBody>
      </p:sp>
    </p:spTree>
    <p:extLst>
      <p:ext uri="{BB962C8B-B14F-4D97-AF65-F5344CB8AC3E}">
        <p14:creationId xmlns:p14="http://schemas.microsoft.com/office/powerpoint/2010/main" val="2167719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93" y="351896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The Capitalist 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946" y="1348800"/>
            <a:ext cx="109251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Capitalism led to growth in living standards because of:</a:t>
            </a:r>
          </a:p>
          <a:p>
            <a:endParaRPr lang="en-US" sz="3200" dirty="0"/>
          </a:p>
          <a:p>
            <a:pPr marL="457200" indent="-457200">
              <a:buFont typeface="Arial"/>
              <a:buChar char="•"/>
            </a:pPr>
            <a:r>
              <a:rPr lang="en-GB" sz="3200" u="sng" dirty="0"/>
              <a:t>Impact on technology</a:t>
            </a:r>
            <a:r>
              <a:rPr lang="en-GB" sz="3200" dirty="0"/>
              <a:t>: firms competing in markets had strong incentives to adopt and develop new technologies</a:t>
            </a:r>
          </a:p>
          <a:p>
            <a:pPr marL="457200" indent="-457200">
              <a:buFont typeface="Arial"/>
              <a:buChar char="•"/>
            </a:pPr>
            <a:r>
              <a:rPr lang="en-GB" sz="3200" u="sng" dirty="0"/>
              <a:t>Specialization</a:t>
            </a:r>
            <a:r>
              <a:rPr lang="en-GB" sz="3200" dirty="0"/>
              <a:t>: the growth of firms and the expansion of markets linking the entire world allowed historically unprecedented specialization in tasks and production</a:t>
            </a:r>
          </a:p>
          <a:p>
            <a:pPr marL="457200" indent="-457200"/>
            <a:endParaRPr lang="en-GB" sz="3200" dirty="0"/>
          </a:p>
          <a:p>
            <a:pPr marL="457200" indent="-457200" algn="ctr"/>
            <a:r>
              <a:rPr lang="en-GB" sz="3200" dirty="0"/>
              <a:t>Together with the technological revolution, this increased worker </a:t>
            </a:r>
            <a:r>
              <a:rPr lang="en-GB" sz="3200" b="1" u="sng" dirty="0"/>
              <a:t>productivity</a:t>
            </a:r>
            <a:r>
              <a:rPr lang="en-GB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91293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93" y="351896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Divergence in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628" y="1348800"/>
            <a:ext cx="64747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 all capitalist economies are equally successful</a:t>
            </a:r>
          </a:p>
          <a:p>
            <a:r>
              <a:rPr lang="en-US" sz="2800" u="sng" dirty="0"/>
              <a:t>Two sets of conditions influence success: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Economic conditions: firms, private property, or markets may fail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Political conditions: capitalist institutions are regulated by the government</a:t>
            </a:r>
          </a:p>
          <a:p>
            <a:r>
              <a:rPr lang="en-US" sz="2800" dirty="0">
                <a:sym typeface="Wingdings" panose="05000000000000000000" pitchFamily="2" charset="2"/>
              </a:rPr>
              <a:t> T</a:t>
            </a:r>
            <a:r>
              <a:rPr lang="en-GB" sz="2800" dirty="0"/>
              <a:t>he government also provides essential goods and services (infrastructure, education)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090" y="2041374"/>
            <a:ext cx="4874969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92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84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Explanations for divergence in growth: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Economic conditions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518"/>
            <a:ext cx="10515600" cy="4587445"/>
          </a:xfrm>
        </p:spPr>
        <p:txBody>
          <a:bodyPr>
            <a:normAutofit/>
          </a:bodyPr>
          <a:lstStyle/>
          <a:p>
            <a:r>
              <a:rPr lang="en-GB" b="1" dirty="0"/>
              <a:t>Private property is not secure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Weak enforcement of the rule of law and of contracts</a:t>
            </a:r>
          </a:p>
          <a:p>
            <a:pPr lvl="1"/>
            <a:r>
              <a:rPr lang="en-GB" dirty="0"/>
              <a:t>Expropriation either by criminal elements or by government bodies</a:t>
            </a:r>
          </a:p>
          <a:p>
            <a:r>
              <a:rPr lang="en-GB" b="1" dirty="0"/>
              <a:t>Markets are not competitive</a:t>
            </a:r>
            <a:r>
              <a:rPr lang="en-GB" dirty="0"/>
              <a:t>: 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No incentive to be (cost) efficient and innovative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Underperforming firms continue to exist</a:t>
            </a:r>
            <a:endParaRPr lang="en-GB" dirty="0"/>
          </a:p>
          <a:p>
            <a:r>
              <a:rPr lang="en-GB" b="1" dirty="0"/>
              <a:t>Firms are owned and managed by people who survive because of their connections to government or their privileged birth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They did not become owners or managers because they were good at delivering high-quality goods and services at a competitive price. The other two failures would make this more likely to occur.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126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</a:rPr>
              <a:t>Explanations for divergence in growth: Political conditions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u="sng" dirty="0"/>
              <a:t>Government is important</a:t>
            </a:r>
          </a:p>
          <a:p>
            <a:r>
              <a:rPr lang="en-GB" dirty="0"/>
              <a:t>Large part of the economy, accounting for more than half of GDP</a:t>
            </a:r>
          </a:p>
          <a:p>
            <a:r>
              <a:rPr lang="en-GB" dirty="0"/>
              <a:t>Establish, enforce and change the laws and regulations that influence how the economy works</a:t>
            </a:r>
          </a:p>
          <a:p>
            <a:r>
              <a:rPr lang="en-GB" dirty="0"/>
              <a:t>Enforce the property rights necessary for markets to work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Supports the institutions of capitalist economy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Provides essential goods and services such as physical infrastructure, education and national defence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976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47636" y="2234255"/>
            <a:ext cx="8496727" cy="1194745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+mn-lt"/>
              </a:rPr>
              <a:t>Capitalism and Inequality</a:t>
            </a:r>
          </a:p>
        </p:txBody>
      </p:sp>
    </p:spTree>
    <p:extLst>
      <p:ext uri="{BB962C8B-B14F-4D97-AF65-F5344CB8AC3E}">
        <p14:creationId xmlns:p14="http://schemas.microsoft.com/office/powerpoint/2010/main" val="3080656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22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How unequal is the world?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3007" y="1105990"/>
            <a:ext cx="14287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8328" y="1121620"/>
            <a:ext cx="14287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1693" y="2964386"/>
            <a:ext cx="14287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2014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21" y="1402539"/>
            <a:ext cx="4024923" cy="19892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30" y="1420099"/>
            <a:ext cx="3989824" cy="19718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478" y="3388146"/>
            <a:ext cx="3959352" cy="1956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9858" y="5657316"/>
            <a:ext cx="11032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When looking at these graphs and the evolution of inequality since the 1980s, what can you say?</a:t>
            </a:r>
          </a:p>
        </p:txBody>
      </p:sp>
    </p:spTree>
    <p:extLst>
      <p:ext uri="{BB962C8B-B14F-4D97-AF65-F5344CB8AC3E}">
        <p14:creationId xmlns:p14="http://schemas.microsoft.com/office/powerpoint/2010/main" val="1373399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848" y="207115"/>
            <a:ext cx="10515600" cy="760552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Within and between country inequality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070" y="1861846"/>
            <a:ext cx="108558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1,000 years ago, the world was “flat”. Today, there are </a:t>
            </a:r>
            <a:r>
              <a:rPr lang="en-US" sz="3200" u="sng" dirty="0"/>
              <a:t>large differences both within and across countries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Marianne-Light"/>
              </a:rPr>
              <a:t>Over the past two decades, global inequalities between countries have declined (World Inequality Report, 2022)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Inequality within countries has increased dramatically (degree depends on the region: US, UK, Asia, vs. mainland Europe vs. Sub-Saharan countries)</a:t>
            </a:r>
          </a:p>
        </p:txBody>
      </p:sp>
    </p:spTree>
    <p:extLst>
      <p:ext uri="{BB962C8B-B14F-4D97-AF65-F5344CB8AC3E}">
        <p14:creationId xmlns:p14="http://schemas.microsoft.com/office/powerpoint/2010/main" val="1373399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4220" y="1897166"/>
            <a:ext cx="10425869" cy="1820256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+mn-lt"/>
              </a:rPr>
              <a:t>The Capitalist Economy and the  Environment </a:t>
            </a:r>
          </a:p>
        </p:txBody>
      </p:sp>
    </p:spTree>
    <p:extLst>
      <p:ext uri="{BB962C8B-B14F-4D97-AF65-F5344CB8AC3E}">
        <p14:creationId xmlns:p14="http://schemas.microsoft.com/office/powerpoint/2010/main" val="1654571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+mn-lt"/>
              </a:rPr>
              <a:t>The economy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8" y="1825625"/>
            <a:ext cx="6699193" cy="4351338"/>
          </a:xfrm>
        </p:spPr>
        <p:txBody>
          <a:bodyPr/>
          <a:lstStyle/>
          <a:p>
            <a:pPr marL="0" indent="0">
              <a:buNone/>
            </a:pPr>
            <a:r>
              <a:rPr lang="en-GB" u="sng" dirty="0"/>
              <a:t>One way of thinking about the economy: </a:t>
            </a:r>
          </a:p>
          <a:p>
            <a:r>
              <a:rPr lang="en-GB" dirty="0"/>
              <a:t>It is part of a larger social system, which is itself part of the biosphere</a:t>
            </a:r>
          </a:p>
          <a:p>
            <a:r>
              <a:rPr lang="en-GB" dirty="0"/>
              <a:t>People interact with each other, and also with nature, in producing their livelihood</a:t>
            </a:r>
          </a:p>
          <a:p>
            <a:r>
              <a:rPr lang="en-GB" dirty="0"/>
              <a:t>As production has soared so have the use of our natural resources and degradation of our natural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391" y="1825625"/>
            <a:ext cx="4345179" cy="41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91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888" y="36779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+mn-lt"/>
              </a:rPr>
              <a:t>Environmental consequences</a:t>
            </a:r>
          </a:p>
        </p:txBody>
      </p:sp>
      <p:pic>
        <p:nvPicPr>
          <p:cNvPr id="2050" name="Picture 2" descr="https://core-econ.org/the-economy/book/images/web/figure-01-06-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16" y="1362342"/>
            <a:ext cx="77057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5477" y="4127619"/>
            <a:ext cx="10622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use of fossil fuel (coal, oil, and natural gas) has profoundly affected the natural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Increasing emissions of carbon dioxide (CO₂) into the air during the twentieth century have resulted in measurably larger amounts of CO₂ in the earth’s atmosphere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CO₂ emissions from fossil fuel consumption have risen dramatically since 1800</a:t>
            </a:r>
          </a:p>
        </p:txBody>
      </p:sp>
    </p:spTree>
    <p:extLst>
      <p:ext uri="{BB962C8B-B14F-4D97-AF65-F5344CB8AC3E}">
        <p14:creationId xmlns:p14="http://schemas.microsoft.com/office/powerpoint/2010/main" val="904908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22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Environmental consequences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132" y="4057369"/>
            <a:ext cx="11786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Increased production and population growth affects the environment</a:t>
            </a:r>
          </a:p>
          <a:p>
            <a:pPr marL="457200" indent="-457200">
              <a:buFont typeface="Arial"/>
              <a:buChar char="•"/>
            </a:pPr>
            <a:r>
              <a:rPr lang="en-US" sz="2400" b="1" dirty="0"/>
              <a:t>Global impacts </a:t>
            </a:r>
            <a:r>
              <a:rPr lang="en-US" sz="2400" dirty="0"/>
              <a:t>– </a:t>
            </a:r>
            <a:r>
              <a:rPr lang="en-US" sz="2400" b="1" dirty="0"/>
              <a:t>climate change </a:t>
            </a:r>
          </a:p>
          <a:p>
            <a:pPr marL="914400" lvl="1" indent="-457200">
              <a:buFont typeface="Arial"/>
              <a:buChar char="•"/>
            </a:pPr>
            <a:r>
              <a:rPr lang="en-GB" sz="2400" dirty="0"/>
              <a:t>Since 1900, average temperatures have risen in response to increasingly high levels of greenhouse gas concentrations (mostly resulted from the CO₂ emissions associated with the burning of fossil fuels)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 b="1" dirty="0"/>
              <a:t>Local impacts – pollution in cities, deforestation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212" y="1217541"/>
            <a:ext cx="700002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4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22" y="365125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Environmental consequences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468" y="1463040"/>
            <a:ext cx="117868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u="sng" dirty="0"/>
              <a:t>These effects are results of both</a:t>
            </a:r>
            <a:r>
              <a:rPr lang="en-GB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u="sng" dirty="0"/>
              <a:t>The expansion of the economy </a:t>
            </a:r>
            <a:r>
              <a:rPr lang="en-GB" sz="3200" dirty="0"/>
              <a:t>(illustrated by the growth in total output)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u="sng" dirty="0"/>
              <a:t>The way the economy is organized </a:t>
            </a:r>
            <a:r>
              <a:rPr lang="en-GB" sz="3200" dirty="0"/>
              <a:t>(what kinds of things are valued and conserved, for example).</a:t>
            </a:r>
          </a:p>
          <a:p>
            <a:pPr>
              <a:buFont typeface="Arial" pitchFamily="34" charset="0"/>
              <a:buChar char="•"/>
            </a:pPr>
            <a:endParaRPr lang="en-GB" sz="3200" dirty="0"/>
          </a:p>
          <a:p>
            <a:r>
              <a:rPr lang="en-GB" sz="3200" dirty="0"/>
              <a:t>The permanent technological revolution may also be part of the solution, by making it possible to use less resources to produce more output.</a:t>
            </a:r>
            <a:endParaRPr lang="en-US" sz="3200" dirty="0"/>
          </a:p>
          <a:p>
            <a:pPr algn="ctr"/>
            <a:r>
              <a:rPr lang="en-US" sz="3200" b="1" dirty="0"/>
              <a:t>What do you think?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427246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0625" y="160151"/>
            <a:ext cx="2650750" cy="669902"/>
          </a:xfrm>
        </p:spPr>
        <p:txBody>
          <a:bodyPr>
            <a:noAutofit/>
          </a:bodyPr>
          <a:lstStyle/>
          <a:p>
            <a:r>
              <a:rPr lang="en-GB" sz="4800" dirty="0">
                <a:latin typeface="+mn-lt"/>
              </a:rPr>
              <a:t>Summary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2436" y="696206"/>
            <a:ext cx="110526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Important trends in economic variables over time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Income inequality within countries has increased a lot over time 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“Hockey-stick” growth in GDP, and its negative consequences</a:t>
            </a:r>
          </a:p>
          <a:p>
            <a:pPr marL="457200" indent="-457200">
              <a:buFont typeface="Arial"/>
              <a:buChar char="•"/>
            </a:pPr>
            <a:r>
              <a:rPr lang="en-US" sz="3200" b="1" dirty="0"/>
              <a:t>Technological progress</a:t>
            </a:r>
            <a:r>
              <a:rPr lang="en-US" sz="3200" dirty="0"/>
              <a:t> helped bring about these trends</a:t>
            </a:r>
            <a:endParaRPr lang="en-US" sz="3200" b="1" dirty="0"/>
          </a:p>
          <a:p>
            <a:endParaRPr lang="en-US" sz="3200" dirty="0"/>
          </a:p>
          <a:p>
            <a:r>
              <a:rPr lang="en-US" sz="3200" dirty="0"/>
              <a:t>2. The adoption of capitalism was another key factor</a:t>
            </a:r>
          </a:p>
          <a:p>
            <a:pPr marL="457200" indent="-457200">
              <a:buFont typeface="Arial"/>
              <a:buChar char="•"/>
            </a:pPr>
            <a:r>
              <a:rPr lang="en-US" sz="3200" b="1" dirty="0"/>
              <a:t>Capitalism = Private property </a:t>
            </a:r>
            <a:r>
              <a:rPr lang="en-US" sz="3200" dirty="0"/>
              <a:t>+</a:t>
            </a:r>
            <a:r>
              <a:rPr lang="en-US" sz="3200" b="1" dirty="0"/>
              <a:t> Markets </a:t>
            </a:r>
            <a:r>
              <a:rPr lang="en-US" sz="3200" dirty="0"/>
              <a:t>+</a:t>
            </a:r>
            <a:r>
              <a:rPr lang="en-US" sz="3200" b="1" dirty="0"/>
              <a:t> Firms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Failure of these institutions can explain divergence in economic growth across countries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Political systems and the role of government also determine the type of capitalist society</a:t>
            </a:r>
          </a:p>
        </p:txBody>
      </p:sp>
    </p:spTree>
    <p:extLst>
      <p:ext uri="{BB962C8B-B14F-4D97-AF65-F5344CB8AC3E}">
        <p14:creationId xmlns:p14="http://schemas.microsoft.com/office/powerpoint/2010/main" val="4162583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52824B8-59D4-4C20-B368-670FD737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+mn-lt"/>
              </a:rPr>
              <a:t>Next week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269D466-6913-44B3-8F3A-109A9CB96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535"/>
            <a:ext cx="10515600" cy="3669236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/>
              <a:t>A closer look at financial markets: the banking system, actors, instruments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A first look at balance sheets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Money: functions, types, risk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/>
              <a:t>Endogenous money creation: banks create money in the process of supplying credit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8082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17&quot;&gt;&lt;/object&gt;&lt;object type=&quot;2&quot; unique_id=&quot;10018&quot;&gt;&lt;object type=&quot;3&quot; unique_id=&quot;10025&quot;&gt;&lt;property id=&quot;20148&quot; value=&quot;5&quot;/&gt;&lt;property id=&quot;20300&quot; value=&quot;Slide 1 - &amp;quot;Unit 6&amp;quot;&quot;/&gt;&lt;property id=&quot;20307&quot; value=&quot;256&quot;/&gt;&lt;/object&gt;&lt;object type=&quot;3&quot; unique_id=&quot;10026&quot;&gt;&lt;property id=&quot;20148&quot; value=&quot;5&quot;/&gt;&lt;property id=&quot;20300&quot; value=&quot;Slide 3 - &amp;quot;The Unit in Context&amp;quot;&quot;/&gt;&lt;property id=&quot;20307&quot; value=&quot;257&quot;/&gt;&lt;/object&gt;&lt;object type=&quot;3&quot; unique_id=&quot;10055&quot;&gt;&lt;property id=&quot;20148&quot; value=&quot;5&quot;/&gt;&lt;property id=&quot;20300&quot; value=&quot;Slide 4 - &amp;quot;This Unit &amp;quot;&quot;/&gt;&lt;property id=&quot;20307&quot; value=&quot;258&quot;/&gt;&lt;/object&gt;&lt;object type=&quot;3&quot; unique_id=&quot;10151&quot;&gt;&lt;property id=&quot;20148&quot; value=&quot;5&quot;/&gt;&lt;property id=&quot;20300&quot; value=&quot;Slide 6 - &amp;quot;Firms and Wage Contracts&amp;quot;&quot;/&gt;&lt;property id=&quot;20307&quot; value=&quot;259&quot;/&gt;&lt;/object&gt;&lt;object type=&quot;3&quot; unique_id=&quot;10218&quot;&gt;&lt;property id=&quot;20148&quot; value=&quot;5&quot;/&gt;&lt;property id=&quot;20300&quot; value=&quot;Slide 7 - &amp;quot;Firms and Wage Contracts&amp;quot;&quot;/&gt;&lt;property id=&quot;20307&quot; value=&quot;260&quot;/&gt;&lt;/object&gt;&lt;object type=&quot;3&quot; unique_id=&quot;19938&quot;&gt;&lt;property id=&quot;20148&quot; value=&quot;5&quot;/&gt;&lt;property id=&quot;20300&quot; value=&quot;Slide 8&quot;/&gt;&lt;property id=&quot;20307&quot; value=&quot;261&quot;/&gt;&lt;/object&gt;&lt;object type=&quot;3&quot; unique_id=&quot;20019&quot;&gt;&lt;property id=&quot;20148&quot; value=&quot;5&quot;/&gt;&lt;property id=&quot;20300&quot; value=&quot;Slide 2 - &amp;quot;A. Introduction&amp;quot;&quot;/&gt;&lt;property id=&quot;20307&quot; value=&quot;262&quot;/&gt;&lt;/object&gt;&lt;object type=&quot;3&quot; unique_id=&quot;20065&quot;&gt;&lt;property id=&quot;20148&quot; value=&quot;5&quot;/&gt;&lt;property id=&quot;20300&quot; value=&quot;Slide 5 - &amp;quot;B. Labour Contracts and Employment Rents&amp;quot;&quot;/&gt;&lt;property id=&quot;20307&quot; value=&quot;263&quot;/&gt;&lt;/object&gt;&lt;object type=&quot;3&quot; unique_id=&quot;20066&quot;&gt;&lt;property id=&quot;20148&quot; value=&quot;5&quot;/&gt;&lt;property id=&quot;20300&quot; value=&quot;Slide 9 - &amp;quot;C. Labour Discipline Model&amp;quot;&quot;/&gt;&lt;property id=&quot;20307&quot; value=&quot;264&quot;/&gt;&lt;/object&gt;&lt;object type=&quot;3&quot; unique_id=&quot;20144&quot;&gt;&lt;property id=&quot;20148&quot; value=&quot;5&quot;/&gt;&lt;property id=&quot;20300&quot; value=&quot;Slide 14 - &amp;quot;D. The Wage Curve&amp;quot;&quot;/&gt;&lt;property id=&quot;20307&quot; value=&quot;265&quot;/&gt;&lt;/object&gt;&lt;object type=&quot;3&quot; unique_id=&quot;20145&quot;&gt;&lt;property id=&quot;20148&quot; value=&quot;5&quot;/&gt;&lt;property id=&quot;20300&quot; value=&quot;Slide 18 - &amp;quot;E. Fairness and Reciprocity&amp;quot;&quot;/&gt;&lt;property id=&quot;20307&quot; value=&quot;266&quot;/&gt;&lt;/object&gt;&lt;object type=&quot;3&quot; unique_id=&quot;20185&quot;&gt;&lt;property id=&quot;20148&quot; value=&quot;5&quot;/&gt;&lt;property id=&quot;20300&quot; value=&quot;Slide 19 - &amp;quot;G. Looking Forward&amp;quot;&quot;/&gt;&lt;property id=&quot;20307&quot; value=&quot;267&quot;/&gt;&lt;/object&gt;&lt;object type=&quot;3&quot; unique_id=&quot;20228&quot;&gt;&lt;property id=&quot;20148&quot; value=&quot;5&quot;/&gt;&lt;property id=&quot;20300&quot; value=&quot;Slide 20 - &amp;quot;Firms and their Customers&amp;quot;&quot;/&gt;&lt;property id=&quot;20307&quot; value=&quot;268&quot;/&gt;&lt;/object&gt;&lt;object type=&quot;3&quot; unique_id=&quot;20567&quot;&gt;&lt;property id=&quot;20148&quot; value=&quot;5&quot;/&gt;&lt;property id=&quot;20300&quot; value=&quot;Slide 10&quot;/&gt;&lt;property id=&quot;20307&quot; value=&quot;269&quot;/&gt;&lt;/object&gt;&lt;object type=&quot;3&quot; unique_id=&quot;20696&quot;&gt;&lt;property id=&quot;20148&quot; value=&quot;5&quot;/&gt;&lt;property id=&quot;20300&quot; value=&quot;Slide 12&quot;/&gt;&lt;property id=&quot;20307&quot; value=&quot;270&quot;/&gt;&lt;/object&gt;&lt;object type=&quot;3&quot; unique_id=&quot;20782&quot;&gt;&lt;property id=&quot;20148&quot; value=&quot;5&quot;/&gt;&lt;property id=&quot;20300&quot; value=&quot;Slide 13&quot;/&gt;&lt;property id=&quot;20307&quot; value=&quot;271&quot;/&gt;&lt;/object&gt;&lt;object type=&quot;3&quot; unique_id=&quot;20963&quot;&gt;&lt;property id=&quot;20148&quot; value=&quot;5&quot;/&gt;&lt;property id=&quot;20300&quot; value=&quot;Slide 11&quot;/&gt;&lt;property id=&quot;20307&quot; value=&quot;272&quot;/&gt;&lt;/object&gt;&lt;object type=&quot;3&quot; unique_id=&quot;21116&quot;&gt;&lt;property id=&quot;20148&quot; value=&quot;5&quot;/&gt;&lt;property id=&quot;20300&quot; value=&quot;Slide 16&quot;/&gt;&lt;property id=&quot;20307&quot; value=&quot;273&quot;/&gt;&lt;/object&gt;&lt;object type=&quot;3&quot; unique_id=&quot;21217&quot;&gt;&lt;property id=&quot;20148&quot; value=&quot;5&quot;/&gt;&lt;property id=&quot;20300&quot; value=&quot;Slide 15&quot;/&gt;&lt;property id=&quot;20307&quot; value=&quot;274&quot;/&gt;&lt;/object&gt;&lt;object type=&quot;3&quot; unique_id=&quot;21428&quot;&gt;&lt;property id=&quot;20148&quot; value=&quot;5&quot;/&gt;&lt;property id=&quot;20300&quot; value=&quot;Slide 17&quot;/&gt;&lt;property id=&quot;20307&quot; value=&quot;275&quot;/&gt;&lt;/object&gt;&lt;/object&gt;&lt;/object&gt;&lt;/database&gt;"/>
  <p:tag name="SECTOMILLISECCONVERTED" val="1"/>
  <p:tag name="PRESGUID" val="8ca87268-934d-4713-89ea-be812ae47b02"/>
</p:tagLst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5A50"/>
      </a:accent1>
      <a:accent2>
        <a:srgbClr val="FFECD0"/>
      </a:accent2>
      <a:accent3>
        <a:srgbClr val="EBEBE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2056</Words>
  <Application>Microsoft Office PowerPoint</Application>
  <PresentationFormat>Widescreen</PresentationFormat>
  <Paragraphs>235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Comic Sans MS</vt:lpstr>
      <vt:lpstr>Marianne-Light</vt:lpstr>
      <vt:lpstr>Wingdings</vt:lpstr>
      <vt:lpstr>Office Theme</vt:lpstr>
      <vt:lpstr> Introduction to Macro Economic Principles </vt:lpstr>
      <vt:lpstr>General information</vt:lpstr>
      <vt:lpstr>General information</vt:lpstr>
      <vt:lpstr>General information</vt:lpstr>
      <vt:lpstr>Assessment</vt:lpstr>
      <vt:lpstr>What is macroeconomics?</vt:lpstr>
      <vt:lpstr>Two ways of looking at the economy: Mainstream and heterodox</vt:lpstr>
      <vt:lpstr>Unit 1</vt:lpstr>
      <vt:lpstr>What we will talk about today </vt:lpstr>
      <vt:lpstr>What we will try to explain:</vt:lpstr>
      <vt:lpstr>Measuring income and living standards</vt:lpstr>
      <vt:lpstr>Measuring income and living standards</vt:lpstr>
      <vt:lpstr> “Hockey-stick” growth</vt:lpstr>
      <vt:lpstr>GDP growth rates</vt:lpstr>
      <vt:lpstr>GDP growth rates </vt:lpstr>
      <vt:lpstr>PowerPoint Presentation</vt:lpstr>
      <vt:lpstr>The Industrial Revolution</vt:lpstr>
      <vt:lpstr>How can you explain the stagnation before the industrial revolution?</vt:lpstr>
      <vt:lpstr>Capitalism</vt:lpstr>
      <vt:lpstr>Key Concepts defining Capitalism</vt:lpstr>
      <vt:lpstr>Key Concepts defining Capitalism</vt:lpstr>
      <vt:lpstr>The Capitalist Revolution</vt:lpstr>
      <vt:lpstr>Divergence in growth</vt:lpstr>
      <vt:lpstr>Explanations for divergence in growth:  Economic conditions</vt:lpstr>
      <vt:lpstr>Explanations for divergence in growth: Political conditions</vt:lpstr>
      <vt:lpstr>Capitalism and Inequality</vt:lpstr>
      <vt:lpstr>How unequal is the world?</vt:lpstr>
      <vt:lpstr>Within and between country inequality</vt:lpstr>
      <vt:lpstr>The Capitalist Economy and the  Environment </vt:lpstr>
      <vt:lpstr>The economy and the Environment</vt:lpstr>
      <vt:lpstr>Environmental consequences</vt:lpstr>
      <vt:lpstr>Environmental consequences</vt:lpstr>
      <vt:lpstr>Environmental consequences</vt:lpstr>
      <vt:lpstr>Summary</vt:lpstr>
      <vt:lpstr>Next week</vt:lpstr>
    </vt:vector>
  </TitlesOfParts>
  <Company>University of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</dc:title>
  <dc:creator>AJ Lait</dc:creator>
  <cp:lastModifiedBy>Sophia Kuehnlenz</cp:lastModifiedBy>
  <cp:revision>291</cp:revision>
  <cp:lastPrinted>2023-10-02T11:15:58Z</cp:lastPrinted>
  <dcterms:created xsi:type="dcterms:W3CDTF">2015-12-08T12:23:03Z</dcterms:created>
  <dcterms:modified xsi:type="dcterms:W3CDTF">2025-09-17T16:10:30Z</dcterms:modified>
</cp:coreProperties>
</file>